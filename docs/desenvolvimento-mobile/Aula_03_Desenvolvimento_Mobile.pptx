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5" r:id="rId12"/>
    <p:sldId id="289" r:id="rId13"/>
    <p:sldId id="266" r:id="rId14"/>
    <p:sldId id="267" r:id="rId15"/>
    <p:sldId id="268" r:id="rId16"/>
    <p:sldId id="269" r:id="rId17"/>
    <p:sldId id="290" r:id="rId18"/>
    <p:sldId id="271" r:id="rId19"/>
    <p:sldId id="272" r:id="rId20"/>
    <p:sldId id="275" r:id="rId21"/>
    <p:sldId id="273" r:id="rId22"/>
    <p:sldId id="274" r:id="rId23"/>
    <p:sldId id="287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9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1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24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8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8.png"/><Relationship Id="rId10" Type="http://schemas.openxmlformats.org/officeDocument/2006/relationships/image" Target="../media/image82.png"/><Relationship Id="rId4" Type="http://schemas.openxmlformats.org/officeDocument/2006/relationships/image" Target="../media/image78.png"/><Relationship Id="rId9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657850"/>
            <a:ext cx="7905750" cy="723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685454"/>
            <a:ext cx="1714500" cy="8846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77475" y="381000"/>
            <a:ext cx="1438275" cy="32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565"/>
              </a:lnSpc>
            </a:pPr>
            <a:r>
              <a:rPr sz="2850" b="0" i="0" u="none">
                <a:solidFill>
                  <a:srgbClr val="FFFFFF"/>
                </a:solidFill>
                <a:latin typeface="Montserrat Black"/>
              </a:rPr>
              <a:t>CEUB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7475" y="744735"/>
            <a:ext cx="14382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 u="none">
                <a:solidFill>
                  <a:srgbClr val="FF007F"/>
                </a:solidFill>
                <a:latin typeface="Montserrat"/>
              </a:rPr>
              <a:t>EDUCAÇÃO SUPERIOR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89089"/>
            <a:ext cx="830103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0" i="0" u="none">
                <a:solidFill>
                  <a:srgbClr val="FFFFFF"/>
                </a:solidFill>
                <a:latin typeface="Montserrat ExtraBold"/>
              </a:rPr>
              <a:t>DESENVOLVIMENTO</a:t>
            </a:r>
            <a:r>
              <a:t>
</a:t>
            </a:r>
            <a:r>
              <a:rPr sz="4200" b="0" i="0" u="none">
                <a:solidFill>
                  <a:srgbClr val="FFFFFF"/>
                </a:solidFill>
                <a:latin typeface="Montserrat ExtraBold"/>
              </a:rPr>
              <a:t>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05325"/>
            <a:ext cx="7905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F77C2"/>
                </a:solidFill>
                <a:latin typeface="Montserrat SemiBold"/>
              </a:rPr>
              <a:t>Plataformas e Tecnologias — Aula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991100"/>
            <a:ext cx="790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"/>
              </a:rPr>
              <a:t>Do desenvolvimento nativo às soluções multiplataforma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867400"/>
            <a:ext cx="7905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Open Sans SemiBold"/>
              </a:rPr>
              <a:t>Professor: </a:t>
            </a:r>
            <a:r>
              <a:rPr sz="1350" b="0" i="0" u="none">
                <a:solidFill>
                  <a:srgbClr val="FF77C2"/>
                </a:solidFill>
                <a:latin typeface="Open Sans"/>
              </a:rPr>
              <a:t>Gustavo da Silva Câmara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24575"/>
            <a:ext cx="7905750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FFFFFF"/>
                </a:solidFill>
                <a:latin typeface="Open Sans SemiBold"/>
              </a:rPr>
              <a:t>Curso</a:t>
            </a:r>
            <a:r>
              <a:rPr sz="1350" b="0" i="0" u="none" dirty="0">
                <a:solidFill>
                  <a:srgbClr val="FFFFFF"/>
                </a:solidFill>
                <a:latin typeface="Open Sans SemiBold"/>
              </a:rPr>
              <a:t>: </a:t>
            </a:r>
            <a:r>
              <a:rPr lang="pt-BR" sz="1350" b="0" i="0" u="none" dirty="0">
                <a:solidFill>
                  <a:srgbClr val="FF77C2"/>
                </a:solidFill>
                <a:latin typeface="Open Sans"/>
              </a:rPr>
              <a:t>Desenvolvimento Mobile</a:t>
            </a:r>
            <a:r>
              <a:rPr sz="1350" b="0" i="0" u="none" dirty="0">
                <a:solidFill>
                  <a:srgbClr val="FF77C2"/>
                </a:solidFill>
                <a:latin typeface="Open Sans"/>
              </a:rPr>
              <a:t>- CEUB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1049000" cy="1828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2125" y="2686050"/>
            <a:ext cx="909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Diferenciação Tecnológica: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Diferenciar desenvolvimento nativo de soluções multiplataforma.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2125" y="3133725"/>
            <a:ext cx="909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Plataformas Líderes: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Compreender as principais características ecossistêmicas de Android e 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581400"/>
            <a:ext cx="909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Frameworks Modernos: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Conhecer Flutter, React Native e .NET MAUI.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4029075"/>
            <a:ext cx="909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Visão de Arquitetura: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Relacionar com clareza plataforma, linguagem de programação e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476750"/>
            <a:ext cx="909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Primeira Prática: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Ter o primeiro contato prático com o Android Studio + Kotlin.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09862"/>
            <a:ext cx="2381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157537"/>
            <a:ext cx="1619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605212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2887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500562"/>
            <a:ext cx="26670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Objetivos da Aula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60193"/>
            <a:ext cx="11049000" cy="5953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1218"/>
            <a:ext cx="3524250" cy="2990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131218"/>
            <a:ext cx="3524250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131218"/>
            <a:ext cx="3524250" cy="2990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54968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Open Sans"/>
              </a:rPr>
              <a:t>O que vimos na última aula?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5522118"/>
            <a:ext cx="10572750" cy="271462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1" i="0" u="none">
                <a:solidFill>
                  <a:srgbClr val="FFFFFF"/>
                </a:solidFill>
                <a:latin typeface="Montserrat"/>
              </a:rPr>
              <a:t>Você consegue explicar a diferença entre eles?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12293"/>
            <a:ext cx="30803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1. Plataformas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83768"/>
            <a:ext cx="2933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O ecossistema e sistema operacional de destino.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3112293"/>
            <a:ext cx="30803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2. Linguagens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483768"/>
            <a:ext cx="2933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As linguagens de programação utilizadas.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112293"/>
            <a:ext cx="30803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3.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483768"/>
            <a:ext cx="2933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Conjuntos de ferramentas e bibliotecas integradas.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037" y="5560218"/>
            <a:ext cx="1809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02693"/>
            <a:ext cx="2762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140993"/>
            <a:ext cx="809625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600" y="4140993"/>
            <a:ext cx="4953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50" y="2502693"/>
            <a:ext cx="45720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9150" y="4140993"/>
            <a:ext cx="676275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1625" y="4140993"/>
            <a:ext cx="600075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7900" y="4140993"/>
            <a:ext cx="5715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4140993"/>
            <a:ext cx="600075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9150" y="4521993"/>
            <a:ext cx="45720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1525" y="2502693"/>
            <a:ext cx="457200" cy="3619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1525" y="4140993"/>
            <a:ext cx="733425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1150" y="4140993"/>
            <a:ext cx="1152525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1525" y="4521993"/>
            <a:ext cx="9906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Recapitulação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929187"/>
            <a:ext cx="11049000" cy="5953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1275"/>
            <a:ext cx="3555950" cy="2014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81275"/>
            <a:ext cx="3555950" cy="2014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581275"/>
            <a:ext cx="3556099" cy="2014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85975"/>
            <a:ext cx="11049000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E2D5E6"/>
                </a:solidFill>
                <a:latin typeface="Open Sans"/>
              </a:rPr>
              <a:t>Antes do </a:t>
            </a:r>
            <a:r>
              <a:rPr lang="pt-BR" sz="1350" b="0" i="0" u="none" dirty="0">
                <a:solidFill>
                  <a:srgbClr val="E2D5E6"/>
                </a:solidFill>
                <a:latin typeface="Open Sans"/>
              </a:rPr>
              <a:t>Quiz</a:t>
            </a:r>
            <a:r>
              <a:rPr sz="1350" b="0" i="0" u="none" dirty="0">
                <a:solidFill>
                  <a:srgbClr val="E2D5E6"/>
                </a:solidFill>
                <a:latin typeface="Open Sans"/>
              </a:rPr>
              <a:t>... </a:t>
            </a:r>
            <a:r>
              <a:rPr sz="1350" b="0" i="0" u="none" dirty="0" err="1">
                <a:solidFill>
                  <a:srgbClr val="E2D5E6"/>
                </a:solidFill>
                <a:latin typeface="Open Sans"/>
              </a:rPr>
              <a:t>vamos</a:t>
            </a:r>
            <a:r>
              <a:rPr sz="1350" b="0" i="0" u="none" dirty="0">
                <a:solidFill>
                  <a:srgbClr val="E2D5E6"/>
                </a:solidFill>
                <a:latin typeface="Open Sans"/>
              </a:rPr>
              <a:t> </a:t>
            </a:r>
            <a:r>
              <a:rPr sz="1350" b="0" i="0" u="none" dirty="0" err="1">
                <a:solidFill>
                  <a:srgbClr val="E2D5E6"/>
                </a:solidFill>
                <a:latin typeface="Open Sans"/>
              </a:rPr>
              <a:t>organizar</a:t>
            </a:r>
            <a:r>
              <a:rPr sz="1350" b="0" i="0" u="none" dirty="0">
                <a:solidFill>
                  <a:srgbClr val="E2D5E6"/>
                </a:solidFill>
                <a:latin typeface="Open Sans"/>
              </a:rPr>
              <a:t> a </a:t>
            </a:r>
            <a:r>
              <a:rPr sz="1350" b="0" i="0" u="none" dirty="0" err="1">
                <a:solidFill>
                  <a:srgbClr val="E2D5E6"/>
                </a:solidFill>
                <a:latin typeface="Open Sans"/>
              </a:rPr>
              <a:t>estrutura</a:t>
            </a:r>
            <a:r>
              <a:rPr sz="1350" b="0" i="0" u="none" dirty="0">
                <a:solidFill>
                  <a:srgbClr val="E2D5E6"/>
                </a:solidFill>
                <a:latin typeface="Open Sans"/>
              </a:rPr>
              <a:t> mental das </a:t>
            </a:r>
            <a:r>
              <a:rPr sz="1350" b="0" i="0" u="none" dirty="0" err="1">
                <a:solidFill>
                  <a:srgbClr val="E2D5E6"/>
                </a:solidFill>
                <a:latin typeface="Open Sans"/>
              </a:rPr>
              <a:t>tecnologias</a:t>
            </a:r>
            <a:r>
              <a:rPr sz="1350" b="0" i="0" u="none" dirty="0">
                <a:solidFill>
                  <a:srgbClr val="E2D5E6"/>
                </a:solidFill>
                <a:latin typeface="Open Sans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5091112"/>
            <a:ext cx="10572750" cy="271462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1" i="0" u="none">
                <a:solidFill>
                  <a:srgbClr val="FFFFFF"/>
                </a:solidFill>
                <a:latin typeface="Montserrat"/>
              </a:rPr>
              <a:t>Qual é a diferença fundamental entre cada camada?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633" y="2828925"/>
            <a:ext cx="321368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007F"/>
                </a:solidFill>
                <a:latin typeface="Montserrat"/>
              </a:rPr>
              <a:t>PLATAFORMA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150" y="3152775"/>
            <a:ext cx="3060650" cy="9525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150" y="3305175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E2D5E6"/>
                </a:solidFill>
                <a:latin typeface="Open Sans"/>
              </a:rPr>
              <a:t>Onde o app roda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084" y="2828925"/>
            <a:ext cx="321368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007F"/>
                </a:solidFill>
                <a:latin typeface="Montserrat"/>
              </a:rPr>
              <a:t>LINGUAGEM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5600" y="3152775"/>
            <a:ext cx="3060650" cy="9525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5600" y="3305175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E2D5E6"/>
                </a:solidFill>
                <a:latin typeface="Open Sans"/>
              </a:rPr>
              <a:t>A sintaxe que escrevemos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5530" y="2828925"/>
            <a:ext cx="321383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007F"/>
                </a:solidFill>
                <a:latin typeface="Montserrat"/>
              </a:rPr>
              <a:t>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2050" y="3152775"/>
            <a:ext cx="3060799" cy="9525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2050" y="3305175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E2D5E6"/>
                </a:solidFill>
                <a:latin typeface="Open Sans"/>
              </a:rPr>
              <a:t>A estrutura que acelera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387" y="5129212"/>
            <a:ext cx="1333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838" y="3662362"/>
            <a:ext cx="809625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4663" y="3662362"/>
            <a:ext cx="4953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6138" y="3662362"/>
            <a:ext cx="676275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8613" y="3662362"/>
            <a:ext cx="600075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4888" y="3662362"/>
            <a:ext cx="5715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2588" y="3662362"/>
            <a:ext cx="942975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251" y="4043362"/>
            <a:ext cx="4572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7975" y="3662362"/>
            <a:ext cx="733425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37600" y="3662362"/>
            <a:ext cx="1152525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66325" y="3662362"/>
            <a:ext cx="9906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Desafio Rápido: O que é cada coisa?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865" y="4252912"/>
            <a:ext cx="807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865" y="2500312"/>
            <a:ext cx="162877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70247" y="2938462"/>
            <a:ext cx="84810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FFFFF"/>
                </a:solidFill>
                <a:latin typeface="Montserrat"/>
              </a:rPr>
              <a:t>Vamos </a:t>
            </a:r>
            <a:r>
              <a:rPr sz="2100" b="1" i="0" u="none" dirty="0" err="1">
                <a:solidFill>
                  <a:srgbClr val="FFFFFF"/>
                </a:solidFill>
                <a:latin typeface="Montserrat"/>
              </a:rPr>
              <a:t>testar</a:t>
            </a:r>
            <a:r>
              <a:rPr sz="2100" b="1" i="0" u="none" dirty="0">
                <a:solidFill>
                  <a:srgbClr val="FFFFFF"/>
                </a:solidFill>
                <a:latin typeface="Montserrat"/>
              </a:rPr>
              <a:t> o </a:t>
            </a:r>
            <a:r>
              <a:rPr sz="2100" b="1" i="0" u="none" dirty="0" err="1">
                <a:solidFill>
                  <a:srgbClr val="FFFFFF"/>
                </a:solidFill>
                <a:latin typeface="Montserrat"/>
              </a:rPr>
              <a:t>que</a:t>
            </a:r>
            <a:r>
              <a:rPr sz="2100" b="1" i="0" u="none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100" b="1" i="0" u="none" dirty="0" err="1">
                <a:solidFill>
                  <a:srgbClr val="FFFFFF"/>
                </a:solidFill>
                <a:latin typeface="Montserrat"/>
              </a:rPr>
              <a:t>ficou</a:t>
            </a:r>
            <a:r>
              <a:rPr sz="2100" b="1" i="0" u="none" dirty="0">
                <a:solidFill>
                  <a:srgbClr val="FFFFFF"/>
                </a:solidFill>
                <a:latin typeface="Montserrat"/>
              </a:rPr>
              <a:t> da </a:t>
            </a:r>
            <a:r>
              <a:rPr sz="2100" b="1" i="0" u="none" dirty="0" err="1">
                <a:solidFill>
                  <a:srgbClr val="FFFFFF"/>
                </a:solidFill>
                <a:latin typeface="Montserrat"/>
              </a:rPr>
              <a:t>última</a:t>
            </a:r>
            <a:r>
              <a:rPr sz="2100" b="1" i="0" u="none" dirty="0">
                <a:solidFill>
                  <a:srgbClr val="FFFFFF"/>
                </a:solidFill>
                <a:latin typeface="Montserrat"/>
              </a:rPr>
              <a:t> aula!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6465" y="4367212"/>
            <a:ext cx="7658100" cy="2286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FFFF"/>
                </a:solidFill>
                <a:latin typeface="Open Sans SemiBold"/>
              </a:rPr>
              <a:t>Atenção: algumas questões exigem raciocínio, não apenas memória!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6490" y="3357562"/>
            <a:ext cx="7648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18 Perguntas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de fixação e conceitos.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6490" y="3805237"/>
            <a:ext cx="7648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30 segundos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por questão.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65" y="440531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865" y="3381375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865" y="3829050"/>
            <a:ext cx="18097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Montserrat ExtraBold"/>
              </a:rPr>
              <a:t>Quiz de </a:t>
            </a:r>
            <a:r>
              <a:rPr sz="2700" b="0" i="0" u="none" dirty="0" err="1">
                <a:solidFill>
                  <a:srgbClr val="FFFFFF"/>
                </a:solidFill>
                <a:latin typeface="Montserrat ExtraBold"/>
              </a:rPr>
              <a:t>Aquecimento</a:t>
            </a:r>
            <a:r>
              <a:rPr sz="2700" b="0" i="0" u="none" dirty="0">
                <a:solidFill>
                  <a:srgbClr val="FFFFFF"/>
                </a:solidFill>
                <a:latin typeface="Montserrat ExtraBold"/>
              </a:rPr>
              <a:t> (Kahoot)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236368"/>
            <a:ext cx="11049000" cy="5953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8793"/>
            <a:ext cx="5381625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778793"/>
            <a:ext cx="5381625" cy="3219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236118"/>
            <a:ext cx="4791075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826668"/>
            <a:ext cx="4791075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36118"/>
            <a:ext cx="4791075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750468"/>
            <a:ext cx="4791075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264818"/>
            <a:ext cx="4791075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5398293"/>
            <a:ext cx="10572750" cy="271462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1" i="0" u="none">
                <a:solidFill>
                  <a:srgbClr val="FFFFFF"/>
                </a:solidFill>
                <a:latin typeface="Montserrat"/>
              </a:rPr>
              <a:t>Uma decisão de arquitetura pode mudar todo o rumo do projeto.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074068"/>
            <a:ext cx="12001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6775" y="2464593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Desenvolvimento Nativo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2836068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Código exclusivo e otimizado para cada SO.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074068"/>
            <a:ext cx="12287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4150" y="2464593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Multiplataforma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836068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Base única de código para Android e iOS.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0362" y="5436393"/>
            <a:ext cx="180975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Como desenvolver um app?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9262"/>
            <a:ext cx="5381625" cy="4171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719262"/>
            <a:ext cx="5381625" cy="417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014537"/>
            <a:ext cx="10477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405062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Tecnologia Própria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76537"/>
            <a:ext cx="4791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Desenvolver utilizando as ferramentas e linguagens criadas e mantidas pela própria dona da plataforma.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2014537"/>
            <a:ext cx="16859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4150" y="2405062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Pilares do Nativo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48138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 </a:t>
            </a:r>
            <a:r>
              <a:rPr sz="1350" b="1" i="0" u="none">
                <a:solidFill>
                  <a:srgbClr val="E2D5E6"/>
                </a:solidFill>
                <a:latin typeface="Open Sans"/>
              </a:rPr>
              <a:t>Android: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Kotlin /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92906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D5E6"/>
                </a:solidFill>
                <a:latin typeface="Open Sans"/>
              </a:rPr>
              <a:t> </a:t>
            </a:r>
            <a:r>
              <a:rPr sz="1350" b="1" i="0" u="none">
                <a:solidFill>
                  <a:srgbClr val="E2D5E6"/>
                </a:solidFill>
                <a:latin typeface="Open Sans"/>
              </a:rPr>
              <a:t>iOS: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Swift / Objective-C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2775" y="27765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Integração Profunda: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Acesso direto às APIs internas do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34813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Alto Desempenho: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Execução direta sem pontes de tradução.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41862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Controle Total: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Acesso completo ao hardware e sensores.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8910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UX Padronizada: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Experiência 100% alinhada ao sistema.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505200"/>
            <a:ext cx="23812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952875"/>
            <a:ext cx="1619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800350"/>
            <a:ext cx="2667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505200"/>
            <a:ext cx="1809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210050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914900"/>
            <a:ext cx="238125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O que é Desenvolvimento Nativo?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33562"/>
            <a:ext cx="5381625" cy="3943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33562"/>
            <a:ext cx="5381625" cy="3943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128837"/>
            <a:ext cx="1371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128837"/>
            <a:ext cx="1219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266223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Alto Controle: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Manipulação refinada do sistema.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10991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Integração: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Suporte imediato a novas APIs do 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5575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Recursos Específicos: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Bluetooth, Câmera, GPS sem restrições.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2624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Desempenho Máximo: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Resposta rápida e fluidez de tela.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26622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Código Separado: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Duas bases de código independentes.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33670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Esforço Duplicado: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Manutenção em dobro no ciclo de vida.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0719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Especialização: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Necessidade de devs Android e iOS dedicados.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7767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Custo e Prazo: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Maior investimento de tempo e orçamento.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86050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133725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581400"/>
            <a:ext cx="1809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286250"/>
            <a:ext cx="180975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686050"/>
            <a:ext cx="15240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390900"/>
            <a:ext cx="15240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4095750"/>
            <a:ext cx="15240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4800600"/>
            <a:ext cx="152400" cy="219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Nativo: Vantagens e Desafios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9262"/>
            <a:ext cx="5381625" cy="4171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719262"/>
            <a:ext cx="5381625" cy="417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014537"/>
            <a:ext cx="22669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4150" y="2405062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Diversidade &amp; Fragmentação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019300"/>
            <a:ext cx="53340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3050" y="2014537"/>
            <a:ext cx="157019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50" y="2271712"/>
            <a:ext cx="1495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7C2"/>
                </a:solidFill>
                <a:latin typeface="Open Sans"/>
              </a:rPr>
              <a:t>Mantido pela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69081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Linguagens Principais: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Kotlin (Recomendada) e Java.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1384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IDE Oficial: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Android Studio (baseado em JetBrains IntelliJ).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2775" y="27765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Variedade de Fabricantes: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Samsung, Xiaomi, Motorola,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34813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Tamanhos de Tela: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Múltiplas resoluções e proporções.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41862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Diversidade de Hardware: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Diferentes processadores e 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8910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Volume de Dispositivos: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Milhares de modelos ativos no mercado.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14625"/>
            <a:ext cx="26670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162300"/>
            <a:ext cx="26670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800350"/>
            <a:ext cx="2381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505200"/>
            <a:ext cx="1809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210050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914900"/>
            <a:ext cx="133350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Ecossistema Android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836EE-31E0-E0E6-A825-A3C3B108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DE2ED99-8EB4-A4E4-ECF2-039707436235}"/>
              </a:ext>
            </a:extLst>
          </p:cNvPr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Ecossistema Android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9890E-41E5-3F1B-452B-89C935596214}"/>
              </a:ext>
            </a:extLst>
          </p:cNvPr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91366B-31E4-6411-0447-6D778160AFAC}"/>
              </a:ext>
            </a:extLst>
          </p:cNvPr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88E67C3-6A23-2BCE-9575-53FBC7F5E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57" y="1384300"/>
            <a:ext cx="6674157" cy="4089400"/>
          </a:xfrm>
          <a:prstGeom prst="rect">
            <a:avLst/>
          </a:prstGeom>
        </p:spPr>
      </p:pic>
      <p:pic>
        <p:nvPicPr>
          <p:cNvPr id="26" name="Imagem 25" descr="Android Version History - Names and Features from Cupcake to Android 11">
            <a:extLst>
              <a:ext uri="{FF2B5EF4-FFF2-40B4-BE49-F238E27FC236}">
                <a16:creationId xmlns:a16="http://schemas.microsoft.com/office/drawing/2014/main" id="{097B013C-9591-B6DC-FD36-6A55FD252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" y="1384300"/>
            <a:ext cx="48768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8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9262"/>
            <a:ext cx="5381625" cy="4171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719262"/>
            <a:ext cx="5381625" cy="417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014537"/>
            <a:ext cx="151447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4150" y="2405062"/>
            <a:ext cx="503062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77C2"/>
                </a:solidFill>
                <a:latin typeface="Montserrat"/>
              </a:rPr>
              <a:t>Jardim Murado (Wall Garden)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019300"/>
            <a:ext cx="3619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2014537"/>
            <a:ext cx="146018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71712"/>
            <a:ext cx="139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7C2"/>
                </a:solidFill>
                <a:latin typeface="Open Sans"/>
              </a:rPr>
              <a:t>Mantido pela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690812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Linguagens Principais: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Swift (Moderna) e Objective-C (Legada).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39566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IDE Oficial: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Xcode (exclusivo para ambiente macOS).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2775" y="27765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Ecossistema Controlado: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Diretrizes rigorosas de design e segurança.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34813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Hardware Padronizado: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Linha restrita de iPhones e iPads.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418623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Integração Apple: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Sincronia perfeita com macOS, watchOS e iPadOS.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89108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D5E6"/>
                </a:solidFill>
                <a:latin typeface="Open Sans"/>
              </a:rPr>
              <a:t>App Store:</a:t>
            </a:r>
            <a:r>
              <a:rPr sz="1350" b="0" i="0" u="none">
                <a:solidFill>
                  <a:srgbClr val="E2D5E6"/>
                </a:solidFill>
                <a:latin typeface="Open Sans"/>
              </a:rPr>
              <a:t> Processo centralizado e criterioso de publicação.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14625"/>
            <a:ext cx="26670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419475"/>
            <a:ext cx="26670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800350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505200"/>
            <a:ext cx="16192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210050"/>
            <a:ext cx="26670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914900"/>
            <a:ext cx="238125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Ecossistema 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B19B2-3A25-F1F7-BCDB-8469FE2A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EE32F40-E164-0C4F-2E78-BCADCEDE7DCD}"/>
              </a:ext>
            </a:extLst>
          </p:cNvPr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Ecossistema 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0E8891-B32F-4B40-74CD-ED5EF66A26A9}"/>
              </a:ext>
            </a:extLst>
          </p:cNvPr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283262-7993-2FD9-5199-65D42CCF4131}"/>
              </a:ext>
            </a:extLst>
          </p:cNvPr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pic>
        <p:nvPicPr>
          <p:cNvPr id="25" name="Imagem 24" descr="Items related to technology including Apple and ecosystems and such.  Roadmaps and diagrams.">
            <a:extLst>
              <a:ext uri="{FF2B5EF4-FFF2-40B4-BE49-F238E27FC236}">
                <a16:creationId xmlns:a16="http://schemas.microsoft.com/office/drawing/2014/main" id="{9E11AAB4-655A-108E-8BF2-4BF5380D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075" y="1243012"/>
            <a:ext cx="4034821" cy="3925030"/>
          </a:xfrm>
          <a:prstGeom prst="rect">
            <a:avLst/>
          </a:prstGeom>
        </p:spPr>
      </p:pic>
      <p:pic>
        <p:nvPicPr>
          <p:cNvPr id="27" name="Imagem 26" descr="Tecnologia, Apple, iPhone, iPad i gadgets | iPadizate a El Nacional">
            <a:extLst>
              <a:ext uri="{FF2B5EF4-FFF2-40B4-BE49-F238E27FC236}">
                <a16:creationId xmlns:a16="http://schemas.microsoft.com/office/drawing/2014/main" id="{8EBD4A70-591B-1559-AAAA-8E2A1364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4" y="1243012"/>
            <a:ext cx="6996793" cy="392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92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Duas plataformas: Android e iOS.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Duas aplicações podem significar duas bases de código.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Mais desenvolvimento, testes e manutenção.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Frameworks multiplataforma tentam reduzir esse esforço.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Pergunta-chave: quando compartilhar código faz sentido?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E se eu precisar de Android + iOS?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95160" y="20574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23176" y="23134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2788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ANDROID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9208" y="40233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41148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0574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34856" y="23134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2788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0888" y="40233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19" y="41148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257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 plataformas → mais esforço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Uma base de código pode atender diferentes plataformas.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Flutter → Dart.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React Native → JavaScript /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.NET MAUI → C#.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Compartilhar código não elimina todas as particularidades de cada sistema.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Desenvolvimento Multiplataforma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 CÓDIGO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772400" y="2331720"/>
            <a:ext cx="114300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2331720"/>
            <a:ext cx="105156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3063240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3127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063240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3127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160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Flutter  •  React Native  •  MAUI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1380172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Criado </a:t>
            </a:r>
            <a:r>
              <a:rPr sz="1400" b="0" dirty="0" err="1">
                <a:solidFill>
                  <a:srgbClr val="E6DCEC"/>
                </a:solidFill>
              </a:rPr>
              <a:t>pelo</a:t>
            </a:r>
            <a:r>
              <a:rPr sz="1400" b="0" dirty="0">
                <a:solidFill>
                  <a:srgbClr val="E6DCEC"/>
                </a:solidFill>
              </a:rPr>
              <a:t> Google.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4375" y="1745931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Linguagem</a:t>
            </a:r>
            <a:r>
              <a:rPr sz="1400" b="0" dirty="0">
                <a:solidFill>
                  <a:srgbClr val="E6DCEC"/>
                </a:solidFill>
              </a:rPr>
              <a:t> principal: Dart.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5" y="2134507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Permite </a:t>
            </a:r>
            <a:r>
              <a:rPr sz="1400" b="0" dirty="0" err="1">
                <a:solidFill>
                  <a:srgbClr val="E6DCEC"/>
                </a:solidFill>
              </a:rPr>
              <a:t>criar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aplicações</a:t>
            </a:r>
            <a:r>
              <a:rPr sz="1400" b="0" dirty="0">
                <a:solidFill>
                  <a:srgbClr val="E6DCEC"/>
                </a:solidFill>
              </a:rPr>
              <a:t> para Android e 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2523083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Hot Reload </a:t>
            </a:r>
            <a:r>
              <a:rPr sz="1400" b="0" dirty="0" err="1">
                <a:solidFill>
                  <a:srgbClr val="E6DCEC"/>
                </a:solidFill>
              </a:rPr>
              <a:t>acelera</a:t>
            </a:r>
            <a:r>
              <a:rPr sz="1400" b="0" dirty="0">
                <a:solidFill>
                  <a:srgbClr val="E6DCEC"/>
                </a:solidFill>
              </a:rPr>
              <a:t> testes e </a:t>
            </a:r>
            <a:r>
              <a:rPr sz="1400" b="0" dirty="0" err="1">
                <a:solidFill>
                  <a:srgbClr val="E6DCEC"/>
                </a:solidFill>
              </a:rPr>
              <a:t>ajustes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durante</a:t>
            </a:r>
            <a:r>
              <a:rPr sz="1400" b="0" dirty="0">
                <a:solidFill>
                  <a:srgbClr val="E6DCEC"/>
                </a:solidFill>
              </a:rPr>
              <a:t> o </a:t>
            </a:r>
            <a:r>
              <a:rPr sz="1400" b="0" dirty="0" err="1">
                <a:solidFill>
                  <a:srgbClr val="E6DCEC"/>
                </a:solidFill>
              </a:rPr>
              <a:t>desenvolvimento</a:t>
            </a:r>
            <a:r>
              <a:rPr sz="1400" b="0" dirty="0">
                <a:solidFill>
                  <a:srgbClr val="E6DCEC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2911659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Interface </a:t>
            </a:r>
            <a:r>
              <a:rPr sz="1400" b="0" dirty="0" err="1">
                <a:solidFill>
                  <a:srgbClr val="E6DCEC"/>
                </a:solidFill>
              </a:rPr>
              <a:t>construída</a:t>
            </a:r>
            <a:r>
              <a:rPr sz="1400" b="0" dirty="0">
                <a:solidFill>
                  <a:srgbClr val="E6DCEC"/>
                </a:solidFill>
              </a:rPr>
              <a:t> com widgets.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lu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74519"/>
            <a:ext cx="3383280" cy="96563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79" y="3657600"/>
            <a:ext cx="10972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3721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657600"/>
            <a:ext cx="150876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372160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HOT RELOAD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Widgets → Interface</a:t>
            </a:r>
          </a:p>
        </p:txBody>
      </p:sp>
      <p:pic>
        <p:nvPicPr>
          <p:cNvPr id="7" name="Imagem 6" descr="Flutter vs React Native Comparison: An Overview - Miquido">
            <a:extLst>
              <a:ext uri="{FF2B5EF4-FFF2-40B4-BE49-F238E27FC236}">
                <a16:creationId xmlns:a16="http://schemas.microsoft.com/office/drawing/2014/main" id="{0DB3479D-046A-DE5A-4EC8-CF595D8D8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549967"/>
            <a:ext cx="3894183" cy="28670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9125" y="10858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Associado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ao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ecossistema</a:t>
            </a:r>
            <a:r>
              <a:rPr sz="1400" b="0" dirty="0">
                <a:solidFill>
                  <a:srgbClr val="E6DCEC"/>
                </a:solidFill>
              </a:rPr>
              <a:t> Meta.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4375" y="15335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Utiliza</a:t>
            </a:r>
            <a:r>
              <a:rPr sz="1400" b="0" dirty="0">
                <a:solidFill>
                  <a:srgbClr val="E6DCEC"/>
                </a:solidFill>
              </a:rPr>
              <a:t> JavaScript </a:t>
            </a:r>
            <a:r>
              <a:rPr sz="1400" b="0" dirty="0" err="1">
                <a:solidFill>
                  <a:srgbClr val="E6DCEC"/>
                </a:solidFill>
              </a:rPr>
              <a:t>ou</a:t>
            </a:r>
            <a:r>
              <a:rPr sz="1400" b="0" dirty="0">
                <a:solidFill>
                  <a:srgbClr val="E6DCEC"/>
                </a:solidFill>
              </a:rPr>
              <a:t> TypeScript.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5" y="1852794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Permite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desenvolvimento</a:t>
            </a:r>
            <a:r>
              <a:rPr sz="1400" b="0" dirty="0">
                <a:solidFill>
                  <a:srgbClr val="E6DCEC"/>
                </a:solidFill>
              </a:rPr>
              <a:t> mobile </a:t>
            </a:r>
            <a:r>
              <a:rPr sz="1400" b="0" dirty="0" err="1">
                <a:solidFill>
                  <a:srgbClr val="E6DCEC"/>
                </a:solidFill>
              </a:rPr>
              <a:t>multiplataforma</a:t>
            </a:r>
            <a:r>
              <a:rPr sz="1400" b="0" dirty="0">
                <a:solidFill>
                  <a:srgbClr val="E6DCEC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2252662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Tem grande </a:t>
            </a:r>
            <a:r>
              <a:rPr sz="1400" b="0" dirty="0" err="1">
                <a:solidFill>
                  <a:srgbClr val="E6DCEC"/>
                </a:solidFill>
              </a:rPr>
              <a:t>comunidade</a:t>
            </a:r>
            <a:r>
              <a:rPr sz="1400" b="0" dirty="0">
                <a:solidFill>
                  <a:srgbClr val="E6DCEC"/>
                </a:solidFill>
              </a:rPr>
              <a:t> e </a:t>
            </a:r>
            <a:r>
              <a:rPr sz="1400" b="0" dirty="0" err="1">
                <a:solidFill>
                  <a:srgbClr val="E6DCEC"/>
                </a:solidFill>
              </a:rPr>
              <a:t>ecossistema</a:t>
            </a:r>
            <a:r>
              <a:rPr sz="1400" b="0" dirty="0">
                <a:solidFill>
                  <a:srgbClr val="E6DCEC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2639032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Pode ser </a:t>
            </a:r>
            <a:r>
              <a:rPr sz="1400" b="0" dirty="0" err="1">
                <a:solidFill>
                  <a:srgbClr val="E6DCEC"/>
                </a:solidFill>
              </a:rPr>
              <a:t>interessante</a:t>
            </a:r>
            <a:r>
              <a:rPr sz="1400" b="0" dirty="0">
                <a:solidFill>
                  <a:srgbClr val="E6DCEC"/>
                </a:solidFill>
              </a:rPr>
              <a:t> para equipes com </a:t>
            </a:r>
            <a:r>
              <a:rPr sz="1400" b="0" dirty="0" err="1">
                <a:solidFill>
                  <a:srgbClr val="E6DCEC"/>
                </a:solidFill>
              </a:rPr>
              <a:t>experiência</a:t>
            </a:r>
            <a:r>
              <a:rPr sz="1400" b="0" dirty="0">
                <a:solidFill>
                  <a:srgbClr val="E6DCEC"/>
                </a:solidFill>
              </a:rPr>
              <a:t> web.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React 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actn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37360"/>
            <a:ext cx="256032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06640" y="4251960"/>
            <a:ext cx="118872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43159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JS / 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251960"/>
            <a:ext cx="10972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43159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83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Web skills → Mobile</a:t>
            </a:r>
          </a:p>
        </p:txBody>
      </p:sp>
      <p:pic>
        <p:nvPicPr>
          <p:cNvPr id="7" name="Imagem 6" descr="react native - O que é React Native?">
            <a:extLst>
              <a:ext uri="{FF2B5EF4-FFF2-40B4-BE49-F238E27FC236}">
                <a16:creationId xmlns:a16="http://schemas.microsoft.com/office/drawing/2014/main" id="{7D8BE1CB-9208-2A97-6225-D5320ABF3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59" y="2988373"/>
            <a:ext cx="4343401" cy="37034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6943A-0353-1C57-29ED-623B80ED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59D334-F688-E628-FA50-F08D8F84307A}"/>
              </a:ext>
            </a:extLst>
          </p:cNvPr>
          <p:cNvSpPr txBox="1"/>
          <p:nvPr/>
        </p:nvSpPr>
        <p:spPr>
          <a:xfrm>
            <a:off x="571500" y="1112701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Criado pela Microsoft.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053A0-078A-0F41-D5AF-6AE314D04FC8}"/>
              </a:ext>
            </a:extLst>
          </p:cNvPr>
          <p:cNvSpPr txBox="1"/>
          <p:nvPr/>
        </p:nvSpPr>
        <p:spPr>
          <a:xfrm>
            <a:off x="714375" y="150876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Utiliza C# e o ecossistema .NET.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D8356-AF56-906A-2AFC-82E3737974B3}"/>
              </a:ext>
            </a:extLst>
          </p:cNvPr>
          <p:cNvSpPr txBox="1"/>
          <p:nvPr/>
        </p:nvSpPr>
        <p:spPr>
          <a:xfrm>
            <a:off x="714375" y="1794691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Permite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desenvolvimento</a:t>
            </a:r>
            <a:r>
              <a:rPr sz="1400" b="0" dirty="0">
                <a:solidFill>
                  <a:srgbClr val="E6DCEC"/>
                </a:solidFill>
              </a:rPr>
              <a:t> para Android e iOS.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D09E3-5D63-C109-12F6-4E1B01B4D99E}"/>
              </a:ext>
            </a:extLst>
          </p:cNvPr>
          <p:cNvSpPr txBox="1"/>
          <p:nvPr/>
        </p:nvSpPr>
        <p:spPr>
          <a:xfrm>
            <a:off x="714375" y="2125073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 err="1">
                <a:solidFill>
                  <a:srgbClr val="E6DCEC"/>
                </a:solidFill>
              </a:rPr>
              <a:t>Aproveita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conhecimento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prévio</a:t>
            </a:r>
            <a:r>
              <a:rPr sz="1400" b="0" dirty="0">
                <a:solidFill>
                  <a:srgbClr val="E6DCEC"/>
                </a:solidFill>
              </a:rPr>
              <a:t> de equipes .NET.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6B88D-E175-8A95-F07F-0918A5884CED}"/>
              </a:ext>
            </a:extLst>
          </p:cNvPr>
          <p:cNvSpPr txBox="1"/>
          <p:nvPr/>
        </p:nvSpPr>
        <p:spPr>
          <a:xfrm>
            <a:off x="714375" y="245545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Boa </a:t>
            </a:r>
            <a:r>
              <a:rPr sz="1400" b="0" dirty="0" err="1">
                <a:solidFill>
                  <a:srgbClr val="E6DCEC"/>
                </a:solidFill>
              </a:rPr>
              <a:t>opção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quando</a:t>
            </a:r>
            <a:r>
              <a:rPr sz="1400" b="0" dirty="0">
                <a:solidFill>
                  <a:srgbClr val="E6DCEC"/>
                </a:solidFill>
              </a:rPr>
              <a:t> a </a:t>
            </a:r>
            <a:r>
              <a:rPr sz="1400" b="0" dirty="0" err="1">
                <a:solidFill>
                  <a:srgbClr val="E6DCEC"/>
                </a:solidFill>
              </a:rPr>
              <a:t>empresa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já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trabalha</a:t>
            </a:r>
            <a:r>
              <a:rPr sz="1400" b="0" dirty="0">
                <a:solidFill>
                  <a:srgbClr val="E6DCEC"/>
                </a:solidFill>
              </a:rPr>
              <a:t> fortemente com Microsoft.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602EC-C7B0-EEFF-2BFB-8E7B1EC2AF8C}"/>
              </a:ext>
            </a:extLst>
          </p:cNvPr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.NET MAUI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33529-CDF9-786F-2A92-3467F1E77E06}"/>
              </a:ext>
            </a:extLst>
          </p:cNvPr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E9967-6469-9FE0-55EA-A3B48A12CEF5}"/>
              </a:ext>
            </a:extLst>
          </p:cNvPr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D1F6A7C-70A5-1B3E-95C0-B93F8CC7592E}"/>
              </a:ext>
            </a:extLst>
          </p:cNvPr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F707BE-4954-D58C-3C72-3B857761150C}"/>
              </a:ext>
            </a:extLst>
          </p:cNvPr>
          <p:cNvSpPr txBox="1"/>
          <p:nvPr/>
        </p:nvSpPr>
        <p:spPr>
          <a:xfrm>
            <a:off x="731520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.NET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5F9E0D-3159-D332-9F8C-1670F4B25B9A}"/>
              </a:ext>
            </a:extLst>
          </p:cNvPr>
          <p:cNvSpPr txBox="1"/>
          <p:nvPr/>
        </p:nvSpPr>
        <p:spPr>
          <a:xfrm>
            <a:off x="7315200" y="2697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MAUI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174124-64D8-D12A-966A-991DDB1CD03E}"/>
              </a:ext>
            </a:extLst>
          </p:cNvPr>
          <p:cNvSpPr/>
          <p:nvPr/>
        </p:nvSpPr>
        <p:spPr>
          <a:xfrm>
            <a:off x="7589520" y="3703320"/>
            <a:ext cx="9144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7C6F62-8D47-FA4D-C921-A03CC3B4984D}"/>
              </a:ext>
            </a:extLst>
          </p:cNvPr>
          <p:cNvSpPr txBox="1"/>
          <p:nvPr/>
        </p:nvSpPr>
        <p:spPr>
          <a:xfrm>
            <a:off x="7589520" y="3767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C#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4DB46BC-C8F4-FDA9-1A1C-648E787D6663}"/>
              </a:ext>
            </a:extLst>
          </p:cNvPr>
          <p:cNvSpPr/>
          <p:nvPr/>
        </p:nvSpPr>
        <p:spPr>
          <a:xfrm>
            <a:off x="8732520" y="3703320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05D00-9139-E95F-67CB-A68752CE3CD4}"/>
              </a:ext>
            </a:extLst>
          </p:cNvPr>
          <p:cNvSpPr txBox="1"/>
          <p:nvPr/>
        </p:nvSpPr>
        <p:spPr>
          <a:xfrm>
            <a:off x="8732520" y="376732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39BB7F-6BE6-6736-4C00-2A99053EB487}"/>
              </a:ext>
            </a:extLst>
          </p:cNvPr>
          <p:cNvSpPr/>
          <p:nvPr/>
        </p:nvSpPr>
        <p:spPr>
          <a:xfrm>
            <a:off x="8412480" y="4389120"/>
            <a:ext cx="9144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1E4D9C-6F44-8A57-FEBD-2258EB03A4B3}"/>
              </a:ext>
            </a:extLst>
          </p:cNvPr>
          <p:cNvSpPr txBox="1"/>
          <p:nvPr/>
        </p:nvSpPr>
        <p:spPr>
          <a:xfrm>
            <a:off x="8412480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A0C53-3456-1B69-818E-E34DD0110AC2}"/>
              </a:ext>
            </a:extLst>
          </p:cNvPr>
          <p:cNvSpPr txBox="1"/>
          <p:nvPr/>
        </p:nvSpPr>
        <p:spPr>
          <a:xfrm>
            <a:off x="7315200" y="4983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Ecossistema Microsoft</a:t>
            </a:r>
          </a:p>
        </p:txBody>
      </p:sp>
      <p:pic>
        <p:nvPicPr>
          <p:cNvPr id="7" name="Imagem 6" descr="ActivTrader: A nova plataforma da ActivTrades | melhoresbrokers.com.br">
            <a:extLst>
              <a:ext uri="{FF2B5EF4-FFF2-40B4-BE49-F238E27FC236}">
                <a16:creationId xmlns:a16="http://schemas.microsoft.com/office/drawing/2014/main" id="{B9CEE400-1F86-5BB0-A5D5-4D4BE42DF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034485"/>
            <a:ext cx="3737927" cy="2135958"/>
          </a:xfrm>
          <a:prstGeom prst="rect">
            <a:avLst/>
          </a:prstGeom>
        </p:spPr>
      </p:pic>
      <p:pic>
        <p:nvPicPr>
          <p:cNvPr id="8" name="Imagem 7" descr="NBC Sports Network is back on the air next week 📡 After shutting things down in 2021, the network returns on November 17, and will expand its broadcasting reach to Xfinity and">
            <a:extLst>
              <a:ext uri="{FF2B5EF4-FFF2-40B4-BE49-F238E27FC236}">
                <a16:creationId xmlns:a16="http://schemas.microsoft.com/office/drawing/2014/main" id="{50CA7311-170D-64E0-9AFD-C64CCEA18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88" y="5287348"/>
            <a:ext cx="1699899" cy="1390879"/>
          </a:xfrm>
          <a:prstGeom prst="rect">
            <a:avLst/>
          </a:prstGeom>
        </p:spPr>
      </p:pic>
      <p:pic>
        <p:nvPicPr>
          <p:cNvPr id="9" name="Imagem 8" descr="FinLocker (@myfinlocker) • Instagram photos and videos">
            <a:extLst>
              <a:ext uri="{FF2B5EF4-FFF2-40B4-BE49-F238E27FC236}">
                <a16:creationId xmlns:a16="http://schemas.microsoft.com/office/drawing/2014/main" id="{AFEEE760-AA63-C053-DA29-0304CA1A3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319690"/>
            <a:ext cx="1699899" cy="1358537"/>
          </a:xfrm>
          <a:prstGeom prst="rect">
            <a:avLst/>
          </a:prstGeom>
        </p:spPr>
      </p:pic>
      <p:pic>
        <p:nvPicPr>
          <p:cNvPr id="10" name="Imagem 9" descr="Escola Ágil tira proveito do .NET MAUI para aprimorar a segurança nas  escolas brasileiras">
            <a:extLst>
              <a:ext uri="{FF2B5EF4-FFF2-40B4-BE49-F238E27FC236}">
                <a16:creationId xmlns:a16="http://schemas.microsoft.com/office/drawing/2014/main" id="{2AD16110-56A3-B80C-5404-77BF24CB7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526" y="2914152"/>
            <a:ext cx="1899029" cy="37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18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 resposta correta é: depende.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 tecnologia deve responder ao problema do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Critérios: requisitos, prazo, custo e experiência da equipe.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Também importam desempenho, hardware e manutenção.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Não existe framework vencedor para todos os cenários.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Qual é o melhor?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70"/>
                </a:solidFill>
              </a:rPr>
              <a:t>DEPENDE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92608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29900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Prazo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92608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9900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Custo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92608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9900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Equipe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79476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8587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Requisitos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79476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8587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379476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38587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Manutenção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Nativo: maior controle e integração direta com a plataforma.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Nativo: pode exigir código separado para Android e 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Multiplataforma: maior compartilhamento de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Multiplataforma: pode reduzir esforço, prazo e manutenção.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 escolha depende do contexto técnico e da equipe.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Nativo × Multiplataforma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MULTI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233172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23176" y="258775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3063239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371E41"/>
                </a:solidFill>
              </a:rPr>
              <a:t>KOTLIN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33172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26296" y="258775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54311" y="3063239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1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349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349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Compartilhamento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Android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pic>
        <p:nvPicPr>
          <p:cNvPr id="7" name="Imagem 6" descr="Executar apps em um dispositivo de hardware | Android Studio | Android  Developers">
            <a:extLst>
              <a:ext uri="{FF2B5EF4-FFF2-40B4-BE49-F238E27FC236}">
                <a16:creationId xmlns:a16="http://schemas.microsoft.com/office/drawing/2014/main" id="{54E1E22A-0100-D7FF-A6B3-52999DA1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87376"/>
            <a:ext cx="10439178" cy="5647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3551872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dirty="0">
                <a:solidFill>
                  <a:srgbClr val="E6DCEC"/>
                </a:solidFill>
              </a:rPr>
              <a:t>Agora </a:t>
            </a:r>
            <a:r>
              <a:rPr sz="1400" b="0" dirty="0" err="1">
                <a:solidFill>
                  <a:srgbClr val="E6DCEC"/>
                </a:solidFill>
              </a:rPr>
              <a:t>vamos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abrir</a:t>
            </a:r>
            <a:r>
              <a:rPr sz="1400" b="0" dirty="0">
                <a:solidFill>
                  <a:srgbClr val="E6DCEC"/>
                </a:solidFill>
              </a:rPr>
              <a:t> um </a:t>
            </a:r>
            <a:r>
              <a:rPr sz="1400" b="0" dirty="0" err="1">
                <a:solidFill>
                  <a:srgbClr val="E6DCEC"/>
                </a:solidFill>
              </a:rPr>
              <a:t>projeto</a:t>
            </a:r>
            <a:r>
              <a:rPr sz="1400" b="0" dirty="0">
                <a:solidFill>
                  <a:srgbClr val="E6DCEC"/>
                </a:solidFill>
              </a:rPr>
              <a:t> Android </a:t>
            </a:r>
            <a:r>
              <a:rPr sz="1400" b="0" dirty="0" err="1">
                <a:solidFill>
                  <a:srgbClr val="E6DCEC"/>
                </a:solidFill>
              </a:rPr>
              <a:t>por</a:t>
            </a:r>
            <a:r>
              <a:rPr sz="1400" b="0" dirty="0">
                <a:solidFill>
                  <a:srgbClr val="E6DCEC"/>
                </a:solidFill>
              </a:rPr>
              <a:t> </a:t>
            </a:r>
            <a:r>
              <a:rPr sz="1400" b="0" dirty="0" err="1">
                <a:solidFill>
                  <a:srgbClr val="E6DCEC"/>
                </a:solidFill>
              </a:rPr>
              <a:t>dentro</a:t>
            </a:r>
            <a:r>
              <a:rPr sz="1400" b="0" dirty="0">
                <a:solidFill>
                  <a:srgbClr val="E6DCEC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Vamos observar projeto, código, interface e execução.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Conceitos → Plataformas → Tecnologias → Código.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Primeiro Contato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CONCEITO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2194560"/>
            <a:ext cx="54864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3252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CÓDIGO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29800" y="219456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87000" y="20116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511012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24444" y="27853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3474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HELLO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5048" y="47091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4800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Tela inicial: “Olá, mundo!”.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Botão: “Clique aqui”.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Ao clicar: “Bem-vindo ao Desenvolvimento Mobile!”.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Observe a relação entre interface, interação e comportamento.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Pergunta: onde esse comportamento aparece no código?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Minha Primeira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91856" y="20848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9871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Olá, mundo!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37947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303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Interface + Interação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32CFB-7A91-C0E3-26D4-6A4009B0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EE094-6228-3F09-6844-0D89AF369D44}"/>
              </a:ext>
            </a:extLst>
          </p:cNvPr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Tela inicial: “Olá, mundo!”.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A04D6-C3B1-7D76-2AAC-9F5693EE90E3}"/>
              </a:ext>
            </a:extLst>
          </p:cNvPr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Botão: “Clique aqui”.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E9547-C041-A936-0185-3FEC6173B38C}"/>
              </a:ext>
            </a:extLst>
          </p:cNvPr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Ao clicar: “Bem-vindo ao Desenvolvimento Mobile!”.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EB90F-7EA8-09E8-AD9C-1FC0949B91ED}"/>
              </a:ext>
            </a:extLst>
          </p:cNvPr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Observe a relação entre interface, interação e comportamento.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D36E8-33AD-605C-2101-56DAC7D318B5}"/>
              </a:ext>
            </a:extLst>
          </p:cNvPr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Pergunta: onde esse comportamento aparece no código?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6506A-92AB-F427-89EA-016529E58D19}"/>
              </a:ext>
            </a:extLst>
          </p:cNvPr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Minha Primeira App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5DAB1-0B1D-0D5D-CC7A-CC72ACAA1858}"/>
              </a:ext>
            </a:extLst>
          </p:cNvPr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F6376-F622-AD35-7F94-F650E0C32BCE}"/>
              </a:ext>
            </a:extLst>
          </p:cNvPr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3ED8EDE-02E4-DFA9-F2D3-76FBFD2FCB1D}"/>
              </a:ext>
            </a:extLst>
          </p:cNvPr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97E8A4-B6E1-526B-93EE-2C4C0B0ECC9F}"/>
              </a:ext>
            </a:extLst>
          </p:cNvPr>
          <p:cNvSpPr txBox="1"/>
          <p:nvPr/>
        </p:nvSpPr>
        <p:spPr>
          <a:xfrm>
            <a:off x="7315200" y="5303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Interface + Interação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F03A13-6D62-3B8A-B2B7-E34E720A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10" y="1379537"/>
            <a:ext cx="59055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65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Visualização simplificada no Android Studio.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app → módulo principal da aplicação.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manifests → informações para o sistema Android.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kotlin+java → código da aplicação.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res e Gradle Scripts → recursos, build e dependências.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Estrutura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▸ manifests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14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0F4"/>
                </a:solidFill>
              </a:rPr>
              <a:t>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27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▸ kotlin+java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27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0F4"/>
                </a:solidFill>
              </a:rPr>
              <a:t>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41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▸ 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941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0F4"/>
                </a:solidFill>
              </a:rPr>
              <a:t>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654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▸ Gradle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5429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0F4"/>
                </a:solidFill>
              </a:rPr>
              <a:t>build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AndroidManifest.xml: metadados, permissões e componentes.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kotlin/java: classes e lógica da aplicação.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res: recursos como imagens, strings, cores e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drawable e mipmap: imagens e ícones do aplicativo.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Gradle: configuração de build e dependências.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Anatomia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0" y="1874519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193852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Manifest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2093976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98280" y="192023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metadados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715768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77977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Kotlin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935224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98280" y="2761487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lógica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557015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362102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49640" y="3776472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98280" y="3602735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recursos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4398264"/>
            <a:ext cx="13716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4462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Gradle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9640" y="461772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98280" y="444398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build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Kotlin é uma linguagem de programação.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Foi criada pela JetBrains e é interoperável com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Tem sintaxe moderna e mais concisa.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Possui recursos como null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É uma linguagem central no desenvolvimento Android atual.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Kotlin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0070"/>
                </a:solidFill>
              </a:rP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KOTLIN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val nome = "Ana"</a:t>
            </a:r>
            <a:br/>
            <a:r>
              <a:rPr sz="1800" b="0">
                <a:solidFill>
                  <a:srgbClr val="FFFFFF"/>
                </a:solidFill>
              </a:rPr>
              <a:t>println(nome)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480560"/>
            <a:ext cx="15544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45445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NULL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4480560"/>
            <a:ext cx="10972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45445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Exemplo com Views/XML: setContentView(R.layout.activity_main).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R representa os recursos gerados do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layout indica a categoria do recurso.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activity_main é o nome do arquivo de layout.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Ideia central: Código → Layout → Tela.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Primeiro Código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2C8EB"/>
                </a:solidFill>
              </a:rPr>
              <a:t>setContentView(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R.layout.activity_main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2C8EB"/>
                </a:solidFill>
              </a:rPr>
              <a:t>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3657600"/>
            <a:ext cx="0" cy="5943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0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CÓDIGO → LAYOUT → TELA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Desafio 1: altere o aplicativo.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Altere o título da tela.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Altere o texto do botão.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Altere a mensagem exibida ao clicar.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Execute no emulador e observe o resultado.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Mão na Massa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14816" y="20848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42832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ANTES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37947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8288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0296" y="20848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8312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DEPOIS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6328" y="3794760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0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CLIQUE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229600" y="342900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4088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ALTERE • EXECUTE • OBSERVE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Terminou antes do tempo?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Crie um segundo botão chamado “Sobre mim”.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Ao clicar, exiba uma mensagem personalizada.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Exemplo: “Olá! Eu sou Ana e estou aprendendo mobile.”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Objetivo: praticar interface + comportamento.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Desafio Extra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09560" y="1828800"/>
            <a:ext cx="1828800" cy="3246120"/>
          </a:xfrm>
          <a:prstGeom prst="roundRect">
            <a:avLst/>
          </a:prstGeom>
          <a:solidFill>
            <a:srgbClr val="1919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7576" y="2084832"/>
            <a:ext cx="1572768" cy="269748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1E41"/>
                </a:solidFill>
              </a:rPr>
              <a:t>SOBRE MIM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3412812"/>
            <a:ext cx="1051560" cy="411480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35137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CLIQUE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7596" y="4101088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3588" y="418204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+ BOTÃO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Interface + comportamento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Associe plataforma, linguagem e framework.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Android, iOS, Flutter, React Native e .NET MAUI.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Kotlin, Swift, Dart, JavaScript/TypeScript e C#.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Explique oralmente pelo menos uma associação.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Tempo sugerido: 3 minutos.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Exercício 1 — Relacione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Android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1975104"/>
            <a:ext cx="502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1783080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8470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Kotlin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2633472"/>
            <a:ext cx="502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06840" y="2441448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5054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Swift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45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Flutter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3291840"/>
            <a:ext cx="502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3099816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316382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803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0" y="3950208"/>
            <a:ext cx="502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06840" y="3758184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382219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JS/TS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62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MAUI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2480" y="4608576"/>
            <a:ext cx="502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06840" y="4416552"/>
            <a:ext cx="132588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6840" y="44805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C#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6860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O que levamos de hoje: dispositivo → sistema operacional → tecnologia → código → aplicação.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3372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Pergunta final: qual tecnologia você escolheria para seu próximo aplicativo?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58140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A decisão técnica depende do contexto do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9075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Próxima aula: desenvolvimento na prática.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476750"/>
            <a:ext cx="51663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>
                <a:solidFill>
                  <a:srgbClr val="E6DCEC"/>
                </a:solidFill>
              </a:rPr>
              <a:t>Vamos avançar em Android Studio, Kotlin, interface, código e execução.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Fechamento e Próxima Aula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19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31507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08760"/>
            <a:ext cx="4343400" cy="4343400"/>
          </a:xfrm>
          <a:prstGeom prst="roundRect">
            <a:avLst/>
          </a:prstGeom>
          <a:solidFill>
            <a:srgbClr val="541560"/>
          </a:solidFill>
          <a:ln>
            <a:solidFill>
              <a:srgbClr val="99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03720" y="182880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1892807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DISPOSITIVO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892807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SISTEMA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82880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1892807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TECNOLOGIA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20040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32644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CÓDIGO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2369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200400"/>
            <a:ext cx="1143000" cy="438912"/>
          </a:xfrm>
          <a:prstGeom prst="roundRect">
            <a:avLst/>
          </a:prstGeom>
          <a:solidFill>
            <a:srgbClr val="FF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2644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0070"/>
                </a:solidFill>
              </a:rPr>
              <a:t>PRÓXIMA: PROGRAMAR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3481</TotalTime>
  <Words>1640</Words>
  <Application>Microsoft Macintosh PowerPoint</Application>
  <PresentationFormat>Widescreen</PresentationFormat>
  <Paragraphs>319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Arial</vt:lpstr>
      <vt:lpstr>Calibri</vt:lpstr>
      <vt:lpstr>Montserrat</vt:lpstr>
      <vt:lpstr>Montserrat Black</vt:lpstr>
      <vt:lpstr>Montserrat ExtraBold</vt:lpstr>
      <vt:lpstr>Montserrat SemiBold</vt:lpstr>
      <vt:lpstr>Open Sans</vt:lpstr>
      <vt:lpstr>Open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da Silva Camara</cp:lastModifiedBy>
  <cp:revision>9</cp:revision>
  <dcterms:created xsi:type="dcterms:W3CDTF">2013-01-27T09:14:16Z</dcterms:created>
  <dcterms:modified xsi:type="dcterms:W3CDTF">2026-08-12T10:56:13Z</dcterms:modified>
  <cp:category/>
</cp:coreProperties>
</file>