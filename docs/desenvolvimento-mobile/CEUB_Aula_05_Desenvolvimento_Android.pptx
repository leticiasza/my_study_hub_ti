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8" r:id="rId23"/>
    <p:sldId id="277" r:id="rId24"/>
    <p:sldId id="299" r:id="rId25"/>
    <p:sldId id="278" r:id="rId26"/>
    <p:sldId id="300" r:id="rId27"/>
    <p:sldId id="279" r:id="rId28"/>
    <p:sldId id="301" r:id="rId29"/>
    <p:sldId id="280" r:id="rId30"/>
    <p:sldId id="281" r:id="rId31"/>
    <p:sldId id="282" r:id="rId32"/>
    <p:sldId id="296" r:id="rId33"/>
    <p:sldId id="297" r:id="rId34"/>
    <p:sldId id="302" r:id="rId35"/>
    <p:sldId id="284" r:id="rId36"/>
    <p:sldId id="285" r:id="rId37"/>
    <p:sldId id="286" r:id="rId38"/>
    <p:sldId id="287" r:id="rId39"/>
    <p:sldId id="288" r:id="rId40"/>
    <p:sldId id="289" r:id="rId41"/>
    <p:sldId id="293" r:id="rId42"/>
    <p:sldId id="294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8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657850"/>
            <a:ext cx="7905750" cy="723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685454"/>
            <a:ext cx="1714500" cy="8846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77476" y="381000"/>
            <a:ext cx="1438275" cy="340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457189">
              <a:lnSpc>
                <a:spcPts val="2565"/>
              </a:lnSpc>
            </a:pPr>
            <a:r>
              <a:rPr sz="2850">
                <a:solidFill>
                  <a:srgbClr val="FFFFFF"/>
                </a:solidFill>
                <a:latin typeface="Montserrat Black"/>
              </a:rPr>
              <a:t>CEUB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7476" y="744736"/>
            <a:ext cx="1438275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457189"/>
            <a:r>
              <a:rPr sz="750" b="1">
                <a:solidFill>
                  <a:srgbClr val="FF007F"/>
                </a:solidFill>
                <a:latin typeface="Montserrat"/>
              </a:rPr>
              <a:t>EDUCAÇÃO SUPERIOR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1" y="3189089"/>
            <a:ext cx="8301037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ts val="4620"/>
              </a:lnSpc>
            </a:pPr>
            <a:r>
              <a:rPr sz="4200">
                <a:solidFill>
                  <a:srgbClr val="FFFFFF"/>
                </a:solidFill>
                <a:latin typeface="Montserrat ExtraBold"/>
              </a:rPr>
              <a:t>DESENVOLVIMENTO</a:t>
            </a:r>
            <a:r>
              <a:rPr>
                <a:solidFill>
                  <a:prstClr val="black"/>
                </a:solidFill>
                <a:latin typeface="Calibri"/>
              </a:rPr>
              <a:t>
</a:t>
            </a:r>
            <a:r>
              <a:rPr sz="4200">
                <a:solidFill>
                  <a:srgbClr val="FFFFFF"/>
                </a:solidFill>
                <a:latin typeface="Montserrat ExtraBold"/>
              </a:rPr>
              <a:t>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505326"/>
            <a:ext cx="7905750" cy="6630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ts val="2700"/>
              </a:lnSpc>
            </a:pPr>
            <a:r>
              <a:rPr dirty="0" err="1">
                <a:solidFill>
                  <a:srgbClr val="FF77C2"/>
                </a:solidFill>
                <a:latin typeface="Montserrat SemiBold"/>
              </a:rPr>
              <a:t>Plataformas</a:t>
            </a:r>
            <a:r>
              <a:rPr dirty="0">
                <a:solidFill>
                  <a:srgbClr val="FF77C2"/>
                </a:solidFill>
                <a:latin typeface="Montserrat SemiBold"/>
              </a:rPr>
              <a:t> e </a:t>
            </a:r>
            <a:r>
              <a:rPr dirty="0" err="1">
                <a:solidFill>
                  <a:srgbClr val="FF77C2"/>
                </a:solidFill>
                <a:latin typeface="Montserrat SemiBold"/>
              </a:rPr>
              <a:t>Tecnologias</a:t>
            </a:r>
            <a:r>
              <a:rPr dirty="0">
                <a:solidFill>
                  <a:srgbClr val="FF77C2"/>
                </a:solidFill>
                <a:latin typeface="Montserrat SemiBold"/>
              </a:rPr>
              <a:t> — Aula 0</a:t>
            </a:r>
            <a:r>
              <a:rPr lang="pt-BR" dirty="0">
                <a:solidFill>
                  <a:srgbClr val="FF77C2"/>
                </a:solidFill>
                <a:latin typeface="Montserrat SemiBold"/>
              </a:rPr>
              <a:t>5</a:t>
            </a:r>
          </a:p>
          <a:p>
            <a:pPr defTabSz="457189">
              <a:lnSpc>
                <a:spcPts val="2700"/>
              </a:lnSpc>
            </a:pPr>
            <a:endParaRPr dirty="0">
              <a:solidFill>
                <a:srgbClr val="FF77C2"/>
              </a:solidFill>
              <a:latin typeface="Montserrat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4991101"/>
            <a:ext cx="7905750" cy="270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ts val="2250"/>
              </a:lnSpc>
            </a:pPr>
            <a:r>
              <a:rPr lang="pt-BR" sz="1500" dirty="0">
                <a:solidFill>
                  <a:srgbClr val="FFFFFF"/>
                </a:solidFill>
                <a:latin typeface="Open Sans"/>
              </a:rPr>
              <a:t>Desafios, Componentes, Java, </a:t>
            </a:r>
            <a:r>
              <a:rPr lang="pt-BR" sz="1500" dirty="0" err="1">
                <a:solidFill>
                  <a:srgbClr val="FFFFFF"/>
                </a:solidFill>
                <a:latin typeface="Open Sans"/>
              </a:rPr>
              <a:t>Kotlhin</a:t>
            </a:r>
            <a:endParaRPr sz="1500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5867400"/>
            <a:ext cx="7905750" cy="237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ts val="2025"/>
              </a:lnSpc>
            </a:pPr>
            <a:r>
              <a:rPr sz="1350">
                <a:solidFill>
                  <a:srgbClr val="FFFFFF"/>
                </a:solidFill>
                <a:latin typeface="Open Sans SemiBold"/>
              </a:rPr>
              <a:t>Professor: </a:t>
            </a:r>
            <a:r>
              <a:rPr sz="1350">
                <a:solidFill>
                  <a:srgbClr val="FF77C2"/>
                </a:solidFill>
                <a:latin typeface="Open Sans"/>
              </a:rPr>
              <a:t>Gustavo da Silva Câmara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124575"/>
            <a:ext cx="7905750" cy="237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ts val="2025"/>
              </a:lnSpc>
            </a:pPr>
            <a:r>
              <a:rPr sz="1350" dirty="0" err="1">
                <a:solidFill>
                  <a:srgbClr val="FFFFFF"/>
                </a:solidFill>
                <a:latin typeface="Open Sans SemiBold"/>
              </a:rPr>
              <a:t>Curso</a:t>
            </a:r>
            <a:r>
              <a:rPr sz="1350" dirty="0">
                <a:solidFill>
                  <a:srgbClr val="FFFFFF"/>
                </a:solidFill>
                <a:latin typeface="Open Sans SemiBold"/>
              </a:rPr>
              <a:t>: </a:t>
            </a:r>
            <a:r>
              <a:rPr lang="pt-BR" sz="1350" dirty="0">
                <a:solidFill>
                  <a:srgbClr val="FF77C2"/>
                </a:solidFill>
                <a:latin typeface="Open Sans"/>
              </a:rPr>
              <a:t>Desenvolvimento Mobile</a:t>
            </a:r>
            <a:r>
              <a:rPr sz="1350" dirty="0">
                <a:solidFill>
                  <a:srgbClr val="FF77C2"/>
                </a:solidFill>
                <a:latin typeface="Open Sans"/>
              </a:rPr>
              <a:t>- CEUB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11049000" cy="1828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87088" y="6315976"/>
            <a:ext cx="728662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457189"/>
            <a:r>
              <a:rPr sz="1350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DESENVOLVIMENTO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Onde estamos?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Já criamos um projeto Android e executamos no emulador.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Fizemos nosso primeiro Hello World.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Utilizamos nossa primeira variável em Kotlin.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Conhecemos a arquitetura básica do Android.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Hoje: de um app que funciona para entender como construir aplicações Android reais.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DESENVOLVIMENTO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Objetivos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Identificar desafios do desenvolvimento Android.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Compreender a fragmentação.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Reconhecer Activity, Service, Broadcast Receiver e Content Provider.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Comparar Java e Kotlin.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Desenvolver uma pequena aplicação em Kotlin.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DESENVOLVIMENTO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Funcionou no meu celular. Então funciona em qualquer Android?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291840" cy="246888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A272E"/>
                </a:solidFill>
                <a:latin typeface="Arial"/>
              </a:rPr>
              <a:t>Dispositivo A
Android recente
6,7"
12 GB 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828800"/>
            <a:ext cx="3291840" cy="246888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A272E"/>
                </a:solidFill>
                <a:latin typeface="Arial"/>
              </a:rPr>
              <a:t>Dispositivo B
Android antigo
5,5"
3 GB 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19" y="1828800"/>
            <a:ext cx="3291840" cy="246888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A272E"/>
                </a:solidFill>
                <a:latin typeface="Arial"/>
              </a:rPr>
              <a:t>Tablet
Android recente
11"
8 GB 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846320"/>
            <a:ext cx="9966960" cy="82296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O mesmo aplicativo funcionará exatamente da mesma maneira?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29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1 — DESAFIOS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Desenvolver para Android tem desafios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17355"/>
            <a:ext cx="10424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lang="pt-BR" sz="3600" dirty="0"/>
              <a:t>Vamos fazer uma nuvem de palavras sobre os desafios</a:t>
            </a:r>
            <a:endParaRPr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1 — DESAFIOS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Fragmentação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Grande diversidade de fabricantes e dispositivos.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Diferentes versões do Android.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Processadores e capacidades de hardware variadas.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Tamanhos e resoluções de tela diferentes.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O app não será executado apenas no dispositivo usado pelo desenvolvedor.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1 — DESAFIOS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Um app, muitas telas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1539594" cy="237744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A272E"/>
                </a:solidFill>
              </a:defRPr>
            </a:pPr>
            <a:r>
              <a:rPr dirty="0"/>
              <a:t>APP</a:t>
            </a:r>
            <a:br>
              <a:rPr dirty="0"/>
            </a:br>
            <a:br>
              <a:rPr dirty="0"/>
            </a:br>
            <a:r>
              <a:rPr dirty="0"/>
              <a:t>SMARTPHONE</a:t>
            </a:r>
            <a:br>
              <a:rPr dirty="0"/>
            </a:br>
            <a:r>
              <a:rPr dirty="0"/>
              <a:t>PEQUENO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1828800" cy="3017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A272E"/>
                </a:solidFill>
              </a:defRPr>
            </a:pPr>
            <a:r>
              <a:t>APP</a:t>
            </a:r>
            <a:br/>
            <a:br/>
            <a:r>
              <a:t>SMARTPHONE</a:t>
            </a:r>
            <a:br/>
            <a:r>
              <a:t>GRANDE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3291840" cy="246888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A272E"/>
                </a:solidFill>
              </a:defRPr>
            </a:pPr>
            <a:r>
              <a:t>APP</a:t>
            </a:r>
            <a:br/>
            <a:br/>
            <a:r>
              <a:t>TABLET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5120640"/>
            <a:ext cx="8138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Objetivo: criar interfaces adaptáveis.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1 — DESAFIOS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Versões diferentes do 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minSdk — versão mínima suportada.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compileSdk — APIs disponíveis para compilação.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targetSdk — versão/comportamentos para os quais o app está preparado.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Desafio principal: compatibilidade.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1 — DESAFIOS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Recursos são limitados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Bateria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Memória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Processamento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Armazenamento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Internet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O que aconteceria se um aplicativo utilizasse GPS continuamente sem necessidade?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1 — DESAFIOS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Segurança e permissões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Câmera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Localização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Microfone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Contatos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Arquivos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Uma calculadora precisa da sua localização, câmera e microfone?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ATIVIDADE EM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Atividade em grupo — Sobreviva à fragmentação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Cada grupo receberá um cenário diferente.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Identifique 3 possíveis problemas.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Proponha uma solução para cada problema.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Tempo: 10 minutos.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Apresentação: até 2 minutos por grupo.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ATIVIDADE EM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Cenários dos grupos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3337560" cy="132588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A272E"/>
                </a:solidFill>
              </a:defRPr>
            </a:pPr>
            <a:r>
              <a:t>Grupo 1</a:t>
            </a:r>
            <a:br/>
            <a:r>
              <a:t>Android antigo</a:t>
            </a:r>
            <a:br/>
            <a:r>
              <a:t>Pouca memória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37560" cy="132588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A272E"/>
                </a:solidFill>
              </a:defRPr>
            </a:pPr>
            <a:r>
              <a:t>Grupo 2</a:t>
            </a:r>
            <a:br/>
            <a:r>
              <a:t>Smartphone atual</a:t>
            </a:r>
            <a:br/>
            <a:r>
              <a:t>Tela grande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1645920"/>
            <a:ext cx="3337560" cy="132588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A272E"/>
                </a:solidFill>
              </a:defRPr>
            </a:pPr>
            <a:r>
              <a:t>Grupo 3</a:t>
            </a:r>
            <a:br/>
            <a:r>
              <a:t>Tablet de 11"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474720"/>
            <a:ext cx="3337560" cy="132588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A272E"/>
                </a:solidFill>
              </a:defRPr>
            </a:pPr>
            <a:r>
              <a:t>Grupo 4</a:t>
            </a:r>
            <a:br/>
            <a:r>
              <a:t>Internet instável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74720"/>
            <a:ext cx="3337560" cy="132588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A272E"/>
                </a:solidFill>
              </a:defRPr>
            </a:pPr>
            <a:r>
              <a:t>Grupo 5</a:t>
            </a:r>
            <a:br/>
            <a:r>
              <a:t>Bateria em 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5257800"/>
            <a:ext cx="8138160" cy="68580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Problema → Por que acontece? → Possível solução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2 — COMPONENTES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Uma aplicação 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/>
              <a:t>Activity — </a:t>
            </a:r>
            <a:r>
              <a:rPr dirty="0" err="1"/>
              <a:t>interação</a:t>
            </a:r>
            <a:r>
              <a:rPr dirty="0"/>
              <a:t>/interface com o </a:t>
            </a:r>
            <a:r>
              <a:rPr dirty="0" err="1"/>
              <a:t>usuário</a:t>
            </a:r>
            <a:r>
              <a:rPr dirty="0"/>
              <a:t>.</a:t>
            </a:r>
            <a:endParaRPr lang="pt-BR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A272E"/>
                </a:solidFill>
                <a:latin typeface="Arial"/>
              </a:defRPr>
            </a:pPr>
            <a:endParaRPr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/>
              <a:t>Service —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interface </a:t>
            </a:r>
            <a:r>
              <a:rPr dirty="0" err="1"/>
              <a:t>própria</a:t>
            </a:r>
            <a:r>
              <a:rPr dirty="0"/>
              <a:t>.</a:t>
            </a:r>
            <a:endParaRPr lang="pt-BR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A272E"/>
                </a:solidFill>
                <a:latin typeface="Arial"/>
              </a:defRPr>
            </a:pPr>
            <a:endParaRPr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/>
              <a:t>Broadcast Receiver — </a:t>
            </a:r>
            <a:r>
              <a:rPr dirty="0" err="1"/>
              <a:t>reação</a:t>
            </a:r>
            <a:r>
              <a:rPr dirty="0"/>
              <a:t> a </a:t>
            </a:r>
            <a:r>
              <a:rPr dirty="0" err="1"/>
              <a:t>eventos</a:t>
            </a:r>
            <a:r>
              <a:rPr dirty="0"/>
              <a:t>.</a:t>
            </a:r>
            <a:endParaRPr lang="pt-BR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A272E"/>
                </a:solidFill>
                <a:latin typeface="Arial"/>
              </a:defRPr>
            </a:pPr>
            <a:endParaRPr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/>
              <a:t>Content Provider — </a:t>
            </a:r>
            <a:r>
              <a:rPr dirty="0" err="1"/>
              <a:t>disponibilização</a:t>
            </a:r>
            <a:r>
              <a:rPr dirty="0"/>
              <a:t> </a:t>
            </a:r>
            <a:endParaRPr lang="pt-BR"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 err="1"/>
              <a:t>estruturada</a:t>
            </a:r>
            <a:r>
              <a:rPr dirty="0"/>
              <a:t> de 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Cada componente possui uma responsabilidade.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13</a:t>
            </a:r>
          </a:p>
        </p:txBody>
      </p:sp>
      <p:pic>
        <p:nvPicPr>
          <p:cNvPr id="9" name="Imagem 8" descr="Mastering the 4 Core Components of Android">
            <a:extLst>
              <a:ext uri="{FF2B5EF4-FFF2-40B4-BE49-F238E27FC236}">
                <a16:creationId xmlns:a16="http://schemas.microsoft.com/office/drawing/2014/main" id="{835956E6-DA37-97A7-EFF9-2B2C6521F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31" y="1227346"/>
            <a:ext cx="5881789" cy="33136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2 — COMPONENTES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Componente associado a uma interface com a qual o usuário pode interagir.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Exemplos: tela inicial, cadastro e configurações.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840480"/>
            <a:ext cx="9966960" cy="1005840"/>
          </a:xfrm>
          <a:prstGeom prst="roundRect">
            <a:avLst/>
          </a:prstGeom>
          <a:solidFill>
            <a:srgbClr val="232127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ourier New"/>
              </a:rPr>
              <a:t>class MainActivity : ComponentActivity()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166360"/>
            <a:ext cx="6675120" cy="68580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Vocês já utilizaram uma Activity.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2 — COMPONENTES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Onde está nossa Activity?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645920"/>
            <a:ext cx="4023360" cy="3474720"/>
          </a:xfrm>
          <a:prstGeom prst="roundRect">
            <a:avLst/>
          </a:prstGeom>
          <a:solidFill>
            <a:srgbClr val="232127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rtlCol="0" anchor="ctr"/>
          <a:lstStyle/>
          <a:p>
            <a:pPr algn="ctr"/>
            <a:r>
              <a:rPr sz="1900">
                <a:solidFill>
                  <a:srgbClr val="FFFFFF"/>
                </a:solidFill>
                <a:latin typeface="Courier New"/>
              </a:rPr>
              <a:t>app
  ↓
kotlin + java
  ↓
seu pacote
  ↓
MainActivity.kt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103120"/>
            <a:ext cx="5577840" cy="1097280"/>
          </a:xfrm>
          <a:prstGeom prst="roundRect">
            <a:avLst/>
          </a:prstGeom>
          <a:solidFill>
            <a:srgbClr val="232127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Courier New"/>
              </a:rPr>
              <a:t>class MainActivity : ComponentActivity()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977639"/>
            <a:ext cx="5852160" cy="91440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Activity não é apenas teoria: ela já está no nosso projeto.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2 — COMPONENTES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utilizado</a:t>
            </a:r>
            <a:r>
              <a:rPr dirty="0"/>
              <a:t> para </a:t>
            </a:r>
            <a:r>
              <a:rPr dirty="0" err="1"/>
              <a:t>determinados</a:t>
            </a:r>
            <a:r>
              <a:rPr dirty="0"/>
              <a:t> </a:t>
            </a:r>
            <a:r>
              <a:rPr dirty="0" err="1"/>
              <a:t>trabalhos</a:t>
            </a:r>
            <a:r>
              <a:rPr dirty="0"/>
              <a:t> </a:t>
            </a:r>
            <a:endParaRPr lang="pt-BR"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possuir</a:t>
            </a:r>
            <a:r>
              <a:rPr dirty="0"/>
              <a:t> interface </a:t>
            </a:r>
            <a:r>
              <a:rPr dirty="0" err="1"/>
              <a:t>própria</a:t>
            </a:r>
            <a:r>
              <a:rPr dirty="0"/>
              <a:t>.</a:t>
            </a:r>
            <a:endParaRPr lang="pt-BR"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 err="1"/>
              <a:t>Exemplo</a:t>
            </a:r>
            <a:r>
              <a:rPr dirty="0"/>
              <a:t> </a:t>
            </a:r>
            <a:r>
              <a:rPr dirty="0" err="1"/>
              <a:t>didático</a:t>
            </a:r>
            <a:r>
              <a:rPr dirty="0"/>
              <a:t>: </a:t>
            </a:r>
            <a:r>
              <a:rPr dirty="0" err="1"/>
              <a:t>reprodução</a:t>
            </a:r>
            <a:r>
              <a:rPr dirty="0"/>
              <a:t> de </a:t>
            </a:r>
            <a:r>
              <a:rPr dirty="0" err="1"/>
              <a:t>música</a:t>
            </a:r>
            <a:r>
              <a:rPr dirty="0"/>
              <a:t>.</a:t>
            </a:r>
            <a:endParaRPr lang="pt-BR"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 err="1"/>
              <a:t>Versões</a:t>
            </a:r>
            <a:r>
              <a:rPr dirty="0"/>
              <a:t> </a:t>
            </a:r>
            <a:r>
              <a:rPr dirty="0" err="1"/>
              <a:t>modernas</a:t>
            </a:r>
            <a:r>
              <a:rPr dirty="0"/>
              <a:t> do Android </a:t>
            </a:r>
            <a:r>
              <a:rPr dirty="0" err="1"/>
              <a:t>impõem</a:t>
            </a:r>
            <a:r>
              <a:rPr dirty="0"/>
              <a:t> </a:t>
            </a:r>
            <a:r>
              <a:rPr dirty="0" err="1"/>
              <a:t>regras</a:t>
            </a:r>
            <a:r>
              <a:rPr dirty="0"/>
              <a:t> </a:t>
            </a:r>
            <a:endParaRPr lang="pt-BR"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 err="1"/>
              <a:t>específicas</a:t>
            </a:r>
            <a:r>
              <a:rPr dirty="0"/>
              <a:t> para </a:t>
            </a:r>
            <a:r>
              <a:rPr dirty="0" err="1"/>
              <a:t>execução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segundo</a:t>
            </a:r>
            <a:r>
              <a:rPr dirty="0"/>
              <a:t> plano.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Usuário sai da tela → a tarefa pode continuar quando corretamente implementada.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16</a:t>
            </a:r>
          </a:p>
        </p:txBody>
      </p:sp>
      <p:pic>
        <p:nvPicPr>
          <p:cNvPr id="9" name="Imagem 8" descr="Service no Android, Entendendo e Utilizando">
            <a:extLst>
              <a:ext uri="{FF2B5EF4-FFF2-40B4-BE49-F238E27FC236}">
                <a16:creationId xmlns:a16="http://schemas.microsoft.com/office/drawing/2014/main" id="{F30810BB-57C5-71A9-610F-F08622D3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472" y="763276"/>
            <a:ext cx="3431127" cy="44746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2 — COMPONENTES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Broadcast Receiver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reaja</a:t>
            </a:r>
            <a:r>
              <a:rPr dirty="0"/>
              <a:t> a </a:t>
            </a:r>
            <a:r>
              <a:rPr dirty="0" err="1"/>
              <a:t>determinados</a:t>
            </a:r>
            <a:r>
              <a:rPr dirty="0"/>
              <a:t> </a:t>
            </a:r>
            <a:endParaRPr lang="pt-BR"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 err="1"/>
              <a:t>eventos</a:t>
            </a:r>
            <a:r>
              <a:rPr dirty="0"/>
              <a:t>.</a:t>
            </a:r>
            <a:endParaRPr lang="pt-BR"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 err="1"/>
              <a:t>Recebe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mensagem</a:t>
            </a:r>
            <a:r>
              <a:rPr dirty="0"/>
              <a:t>/</a:t>
            </a:r>
            <a:r>
              <a:rPr dirty="0" err="1"/>
              <a:t>evento</a:t>
            </a:r>
            <a:r>
              <a:rPr dirty="0"/>
              <a:t> e </a:t>
            </a:r>
            <a:r>
              <a:rPr dirty="0" err="1"/>
              <a:t>executa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endParaRPr lang="pt-BR"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 err="1"/>
              <a:t>reação</a:t>
            </a:r>
            <a:r>
              <a:rPr dirty="0"/>
              <a:t> </a:t>
            </a:r>
            <a:r>
              <a:rPr dirty="0" err="1"/>
              <a:t>apropriada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Alguma coisa aconteceu. Meu aplicativo precisa saber?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17</a:t>
            </a:r>
          </a:p>
        </p:txBody>
      </p:sp>
      <p:pic>
        <p:nvPicPr>
          <p:cNvPr id="9" name="Imagem 8" descr="Broadcast in Android - Scaler Topics">
            <a:extLst>
              <a:ext uri="{FF2B5EF4-FFF2-40B4-BE49-F238E27FC236}">
                <a16:creationId xmlns:a16="http://schemas.microsoft.com/office/drawing/2014/main" id="{7E10EBCC-5349-E987-19CA-7C13D5A4B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37" y="1097280"/>
            <a:ext cx="4293507" cy="39571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2 — COMPONENTES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Content 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relacionado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gerenciamento</a:t>
            </a:r>
            <a:r>
              <a:rPr dirty="0"/>
              <a:t> </a:t>
            </a:r>
            <a:endParaRPr lang="pt-BR"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/>
              <a:t>e </a:t>
            </a:r>
            <a:r>
              <a:rPr dirty="0" err="1"/>
              <a:t>compartilhamento</a:t>
            </a:r>
            <a:r>
              <a:rPr dirty="0"/>
              <a:t> </a:t>
            </a:r>
            <a:r>
              <a:rPr dirty="0" err="1"/>
              <a:t>estruturado</a:t>
            </a:r>
            <a:r>
              <a:rPr dirty="0"/>
              <a:t> de dados.</a:t>
            </a:r>
            <a:endParaRPr lang="pt-BR"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/>
              <a:t>Pode </a:t>
            </a:r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controlado</a:t>
            </a:r>
            <a:r>
              <a:rPr dirty="0"/>
              <a:t> </a:t>
            </a:r>
            <a:endParaRPr lang="pt-BR" dirty="0"/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/>
              <a:t>entre </a:t>
            </a:r>
            <a:r>
              <a:rPr dirty="0" err="1"/>
              <a:t>aplicações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apropriado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Pense em dados disponibilizados por uma interface controlada.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18</a:t>
            </a:r>
          </a:p>
        </p:txBody>
      </p:sp>
      <p:pic>
        <p:nvPicPr>
          <p:cNvPr id="9" name="Imagem 8" descr="Android - Content Providers">
            <a:extLst>
              <a:ext uri="{FF2B5EF4-FFF2-40B4-BE49-F238E27FC236}">
                <a16:creationId xmlns:a16="http://schemas.microsoft.com/office/drawing/2014/main" id="{1116026C-AFDA-AF51-8783-1085D1E47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764" y="1252292"/>
            <a:ext cx="5444804" cy="26861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2 — COMPONENTES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Os quatro juntos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0" y="1645920"/>
          <a:ext cx="8412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Pense em...</a:t>
                      </a:r>
                    </a:p>
                  </a:txBody>
                  <a:tcPr>
                    <a:solidFill>
                      <a:srgbClr val="5C2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Interface / interação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Service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Trabalho sem interface própria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Broadcast Receiver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Reagir a eventos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Content Provider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Disponibilizar dados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463040" y="5440680"/>
            <a:ext cx="9326880" cy="64008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Não decore apenas os nomes: qual problema cada componente ajuda a resolver?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DINÂMICA DE FIXAÇÃO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Dinâmica — Qual componente eu sou?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/>
              <a:t>A — Activity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/>
              <a:t>S — Service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/>
              <a:t>B — Broadcast Receiver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rPr dirty="0"/>
              <a:t>C — Content 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DINÂMICA DE FIXAÇÃO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Rodada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Uma tela onde o usuário preenche seu cadastro.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C86F7-D7EC-81FB-F139-F3440DD15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F6417C-75D8-D7B9-E01E-13FF0A88554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C63E79-A94A-0FDD-3351-9744E2815259}"/>
              </a:ext>
            </a:extLst>
          </p:cNvPr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DINÂMICA DE FIXAÇÃO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54BFF-517F-4E7B-EC33-B48AF1CBE6F8}"/>
              </a:ext>
            </a:extLst>
          </p:cNvPr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F8C6F-5AED-7FE1-9892-D5F8486E7910}"/>
              </a:ext>
            </a:extLst>
          </p:cNvPr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Rodada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707725-60CE-96D8-531B-FEE541DC5C93}"/>
              </a:ext>
            </a:extLst>
          </p:cNvPr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Uma tela onde o usuário preenche seu cadastro.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3BB85B-A653-FB84-33D4-0D0263A4578E}"/>
              </a:ext>
            </a:extLst>
          </p:cNvPr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Resposta esperada: Activity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8F05D-519D-16B0-62DC-DD0B14B0E221}"/>
              </a:ext>
            </a:extLst>
          </p:cNvPr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239414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DINÂMICA DE FIXAÇÃO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Rodada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Uma aplicação precisa reagir a determinado evento do sistema.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8061E-D325-EA86-00BA-F1CE935E5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ACD47B-1AF9-DFA5-F14A-BC269269693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06891-F5F7-F871-D81D-6896FF7B824B}"/>
              </a:ext>
            </a:extLst>
          </p:cNvPr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DINÂMICA DE FIXAÇÃO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BEEE17-7D68-AE29-1AA9-C5C7AA505DC6}"/>
              </a:ext>
            </a:extLst>
          </p:cNvPr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1E4C9-5E8E-8E12-7AFD-CE21F3C3E377}"/>
              </a:ext>
            </a:extLst>
          </p:cNvPr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Rodada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0EE1C-5676-0897-5051-E57DF7CE4B1A}"/>
              </a:ext>
            </a:extLst>
          </p:cNvPr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Uma aplicação precisa reagir a determinado evento do sistema.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D773F2-443E-CA52-AA5B-59C224096FB3}"/>
              </a:ext>
            </a:extLst>
          </p:cNvPr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Resposta esperada: Broadcast Receiver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93F81-8D21-AB57-BB7E-8BA8BFD42410}"/>
              </a:ext>
            </a:extLst>
          </p:cNvPr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64543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DINÂMICA DE FIXAÇÃO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Rodada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Um componente precisa disponibilizar dados estruturados para outras aplicações.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846E-00AF-ACC7-6546-8CEFD7C40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5EFD4F-E483-51D7-F2FB-80C455CFBA5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273FC-CECF-A1B5-9BEA-AD80E6A848F5}"/>
              </a:ext>
            </a:extLst>
          </p:cNvPr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DINÂMICA DE FIXAÇÃO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BF394C-C820-0F73-4F79-EC05C5473F6F}"/>
              </a:ext>
            </a:extLst>
          </p:cNvPr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653183-DE98-9C92-2D6F-921FB504DC9C}"/>
              </a:ext>
            </a:extLst>
          </p:cNvPr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Rodada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840A3-96FC-873A-4835-74BC7657353F}"/>
              </a:ext>
            </a:extLst>
          </p:cNvPr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Um componente precisa disponibilizar dados estruturados para outras aplicações.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2F5A0A-74A8-1175-2E56-43C902F01392}"/>
              </a:ext>
            </a:extLst>
          </p:cNvPr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Resposta esperada: Content Provider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B75E5-EB42-EC81-9817-BCBDE9C89840}"/>
              </a:ext>
            </a:extLst>
          </p:cNvPr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73347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DINÂMICA DE FIXAÇÃO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Rodada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Uma aplicação de música executa uma tarefa de reprodução sem manter uma interface própria aberta.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F9DC9-10C4-450D-F178-1F49D9F2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9830F6-1620-7209-C5F2-674C09FE52E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AA9E9-6FD7-8614-8030-41D153D3BB82}"/>
              </a:ext>
            </a:extLst>
          </p:cNvPr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DINÂMICA DE FIXAÇÃO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3542B5-531E-2012-BDEB-2B02DE5989FD}"/>
              </a:ext>
            </a:extLst>
          </p:cNvPr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2BCA4-4BC2-B861-7474-E23EEA96C253}"/>
              </a:ext>
            </a:extLst>
          </p:cNvPr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Rodada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22F2B-B59B-1993-C25F-1FF16214E41B}"/>
              </a:ext>
            </a:extLst>
          </p:cNvPr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Uma aplicação de música executa uma tarefa de reprodução sem manter uma interface própria aberta.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173B82-D71D-81DF-D5AB-0B9B0833EA22}"/>
              </a:ext>
            </a:extLst>
          </p:cNvPr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Resposta esperada: Service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573A2A-44A6-1132-6475-B6F184C1F9FB}"/>
              </a:ext>
            </a:extLst>
          </p:cNvPr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219128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3 — JAVA E KOTLIN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Java × Kotlin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O Android possui uma longa relação com Java.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Kotlin ocupa papel central no desenvolvimento Android moderno.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As duas linguagens fazem parte do ecossistema Android.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Java tende a ser mais verboso; Kotlin busca maior concisão.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3 — JAVA E KOTLIN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O mesmo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03520" cy="3108960"/>
          </a:xfrm>
          <a:prstGeom prst="roundRect">
            <a:avLst/>
          </a:prstGeom>
          <a:solidFill>
            <a:srgbClr val="232127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Courier New"/>
              </a:rPr>
              <a:t>// Java
String nome = "Ana";
int idade = 20;
System.out.println("Olá, " + nome);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303520" cy="3108960"/>
          </a:xfrm>
          <a:prstGeom prst="roundRect">
            <a:avLst/>
          </a:prstGeom>
          <a:solidFill>
            <a:srgbClr val="232127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Courier New"/>
              </a:rPr>
              <a:t>// Kotlin
var nome = "Ana"
var idade = 20
println("Olá, $nome")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5166360"/>
            <a:ext cx="7589520" cy="68580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Quais diferenças vocês conseguem identificar?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3 — JAVA E KOTLIN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var × 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645920"/>
            <a:ext cx="10149840" cy="2560320"/>
          </a:xfrm>
          <a:prstGeom prst="roundRect">
            <a:avLst/>
          </a:prstGeom>
          <a:solidFill>
            <a:srgbClr val="232127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ourier New"/>
              </a:rPr>
              <a:t>var nome = "Ana"
nome = "Maria"
val curso = "Ciência da Computação"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72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var → pode receber outro valor.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val → referência somente leitura.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5D0D4-E71D-AB7A-57FB-4A6344B0F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0DF940-F406-122D-D93C-9D8A319548D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82ED1-F85B-37D1-F773-9E015767D16E}"/>
              </a:ext>
            </a:extLst>
          </p:cNvPr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3 — JAVA E KOTLIN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AECBC4-15A3-AD79-9D7E-3AA184190E3E}"/>
              </a:ext>
            </a:extLst>
          </p:cNvPr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42F148-D118-BF32-63EB-3CE5D085F8E0}"/>
              </a:ext>
            </a:extLst>
          </p:cNvPr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27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1801016-4423-882C-11A3-EF1975921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641" y="1505331"/>
            <a:ext cx="7772400" cy="384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10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B8803-38B4-B715-3507-65D9F5D02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9A336-1C0B-2B50-D83E-B42B4FA03555}"/>
              </a:ext>
            </a:extLst>
          </p:cNvPr>
          <p:cNvSpPr/>
          <p:nvPr/>
        </p:nvSpPr>
        <p:spPr>
          <a:xfrm>
            <a:off x="0" y="28708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5D09B-5089-2422-3A1C-E497F69A74DE}"/>
              </a:ext>
            </a:extLst>
          </p:cNvPr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3 — JAVA E KOTLIN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26D81-5CB1-3125-733E-B14BF7C712AB}"/>
              </a:ext>
            </a:extLst>
          </p:cNvPr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C5154-69EE-FA01-6D19-DEBE8376F21A}"/>
              </a:ext>
            </a:extLst>
          </p:cNvPr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27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6F678A-F4E6-A0E6-3D7C-3CBF4A338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46690"/>
            <a:ext cx="7772400" cy="496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ATIVIDADE EM DUPLA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Atividade em dupla — Java → Kotlin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554480"/>
            <a:ext cx="10149840" cy="3383280"/>
          </a:xfrm>
          <a:prstGeom prst="roundRect">
            <a:avLst/>
          </a:prstGeom>
          <a:solidFill>
            <a:srgbClr val="232127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Courier New"/>
              </a:rPr>
              <a:t>String nome = "Ana";
int idade = 20;
System.out.println(nome);
String curso = "Ciência da Computação";
System.out.println("Curso: " + curso);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257800"/>
            <a:ext cx="6583680" cy="68580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Converta para Kotlin. Tempo: 10 minutos.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4 — PRÁTICA NO ANDROID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Missão prática — Meu Perfil Acadêmico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Solicite: Nome, Curso e Semestre.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Crie o botão GERAR PERFIL.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Mostre os dados preenchidos abaixo do botão.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Use o que já aprendemos com variáveis e estado.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4 — PRÁTICA NO ANDROID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Resultado esperado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417320"/>
            <a:ext cx="6675120" cy="4389120"/>
          </a:xfrm>
          <a:prstGeom prst="roundRect">
            <a:avLst/>
          </a:prstGeom>
          <a:solidFill>
            <a:srgbClr val="232127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Courier New"/>
              </a:rPr>
              <a:t>MEU PERFIL
Nome:      [ Gustavo ]
Curso:     [ Ciência da Computação ]
Semestre:  [ 2 ]
[ GERAR PERFIL ]
Olá, Gustavo!
Curso: Ciência da Computação
Semestre: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4 — PRÁTICA NO ANDROID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Passo 1 — nossas variáveis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417320"/>
            <a:ext cx="9966960" cy="4206240"/>
          </a:xfrm>
          <a:prstGeom prst="roundRect">
            <a:avLst/>
          </a:prstGeom>
          <a:solidFill>
            <a:srgbClr val="232127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Courier New"/>
              </a:rPr>
              <a:t>var nome by remember {
    mutableStateOf("")
}
var curso by remember {
    mutableStateOf("")
}
var semestre by remember {
    mutableStateOf("")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5715000"/>
            <a:ext cx="6309360" cy="59436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Por que precisamos de três variáveis?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4 — PRÁTICA NO ANDROID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Passo 2 — entrada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508760"/>
            <a:ext cx="5486400" cy="4114800"/>
          </a:xfrm>
          <a:prstGeom prst="roundRect">
            <a:avLst/>
          </a:prstGeom>
          <a:solidFill>
            <a:srgbClr val="232127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rtlCol="0" anchor="ctr"/>
          <a:lstStyle/>
          <a:p>
            <a:pPr algn="ctr"/>
            <a:r>
              <a:rPr sz="1800">
                <a:solidFill>
                  <a:srgbClr val="FFFFFF"/>
                </a:solidFill>
                <a:latin typeface="Courier New"/>
              </a:rPr>
              <a:t>TextField(
    value = nome,
    onValueChange = {
        nome = it
    },
    label = {
        Text("Nome")
    }
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560320"/>
            <a:ext cx="4114800" cy="11887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Agora faça sozinho: crie os campos Curso e Semestre.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4 — PRÁTICA NO ANDROID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Passo 3 — botão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600200"/>
            <a:ext cx="5669280" cy="3474720"/>
          </a:xfrm>
          <a:prstGeom prst="roundRect">
            <a:avLst/>
          </a:prstGeom>
          <a:solidFill>
            <a:srgbClr val="232127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rtlCol="0" anchor="ctr"/>
          <a:lstStyle/>
          <a:p>
            <a:pPr algn="ctr"/>
            <a:r>
              <a:rPr sz="1800">
                <a:solidFill>
                  <a:srgbClr val="FFFFFF"/>
                </a:solidFill>
                <a:latin typeface="Courier New"/>
              </a:rPr>
              <a:t>Button(
    onClick = {
        mensagem = "Olá, $nome!"
    }
) {
    Text("Gerar Perfil")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468880"/>
            <a:ext cx="4023360" cy="109728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Depois evolua: mostre também Curso e Semestre.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9496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BLOCO 4 — PRÁTICA NO ANDROID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500" b="1" dirty="0">
                <a:solidFill>
                  <a:srgbClr val="5C2D91"/>
                </a:solidFill>
                <a:latin typeface="Arial"/>
              </a:rPr>
              <a:t>Trabalho em grupo</a:t>
            </a:r>
            <a:endParaRPr sz="2500" b="1" dirty="0">
              <a:solidFill>
                <a:srgbClr val="5C2D91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Grupo 1 — Calculadora de Média</a:t>
            </a:r>
            <a:br>
              <a:rPr lang="pt-BR" dirty="0"/>
            </a:br>
            <a:r>
              <a:rPr lang="pt-BR" dirty="0"/>
              <a:t>Duas notas → média → situação.</a:t>
            </a:r>
          </a:p>
          <a:p>
            <a:r>
              <a:rPr lang="pt-BR" b="1" dirty="0"/>
              <a:t>Grupo 2 — Divisor de Conta</a:t>
            </a:r>
            <a:br>
              <a:rPr lang="pt-BR" dirty="0"/>
            </a:br>
            <a:r>
              <a:rPr lang="pt-BR" dirty="0"/>
              <a:t>Valor → pessoas → valor individual.</a:t>
            </a:r>
          </a:p>
          <a:p>
            <a:r>
              <a:rPr lang="pt-BR" b="1" dirty="0"/>
              <a:t>Grupo 3 — Calculadora de Desconto</a:t>
            </a:r>
            <a:br>
              <a:rPr lang="pt-BR" dirty="0"/>
            </a:br>
            <a:r>
              <a:rPr lang="pt-BR" dirty="0"/>
              <a:t>Preço → desconto → preço final.</a:t>
            </a:r>
          </a:p>
          <a:p>
            <a:r>
              <a:rPr lang="pt-BR" b="1" dirty="0"/>
              <a:t>Grupo 4 — Conversor de Temperatura</a:t>
            </a:r>
            <a:br>
              <a:rPr lang="pt-BR" dirty="0"/>
            </a:br>
            <a:r>
              <a:rPr lang="pt-BR" dirty="0"/>
              <a:t>Celsius → Fahrenheit.</a:t>
            </a:r>
          </a:p>
          <a:p>
            <a:r>
              <a:rPr lang="pt-BR" b="1" dirty="0"/>
              <a:t>Grupo 5 — Calculadora de Combustível</a:t>
            </a:r>
            <a:br>
              <a:rPr lang="pt-BR" dirty="0"/>
            </a:br>
            <a:r>
              <a:rPr lang="pt-BR" dirty="0"/>
              <a:t>Distância → consumo médio → litros necessários.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FECHAMENTO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O que aprendemos?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38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1554480"/>
          <a:ext cx="9966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DESAFIOS</a:t>
                      </a:r>
                    </a:p>
                  </a:txBody>
                  <a:tcPr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COMPONENTES</a:t>
                      </a:r>
                    </a:p>
                  </a:txBody>
                  <a:tcPr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LINGUAGENS</a:t>
                      </a:r>
                    </a:p>
                  </a:txBody>
                  <a:tcPr>
                    <a:solidFill>
                      <a:srgbClr val="5C2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Fragmentação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Java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Telas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Service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Kotlin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Versões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Broadcast Receiver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7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Recursos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72E"/>
                          </a:solidFill>
                          <a:latin typeface="Arial"/>
                        </a:rPr>
                        <a:t>Content Provider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7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5349240"/>
            <a:ext cx="1033272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De “eu consigo fazer um app” para “eu começo a entender como uma aplicação Android é estruturada”.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2C7A"/>
                </a:solidFill>
                <a:latin typeface="Arial"/>
              </a:rPr>
              <a:t>FECHAMENTO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1155680" cy="2286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5C2D91"/>
                </a:solidFill>
                <a:latin typeface="Arial"/>
              </a:rPr>
              <a:t>Fechamento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O que é fragmentação?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O que é uma Activity?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Para que serve um Service?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Java e Kotlin podem ser utilizados no Android?</a:t>
            </a:r>
          </a:p>
          <a:p>
            <a:pPr>
              <a:spcAft>
                <a:spcPts val="1000"/>
              </a:spcAft>
              <a:defRPr sz="1800">
                <a:solidFill>
                  <a:srgbClr val="2A272E"/>
                </a:solidFill>
                <a:latin typeface="Arial"/>
              </a:defRPr>
            </a:pPr>
            <a:r>
              <a:t>Qual a diferença entre var e val?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03520"/>
            <a:ext cx="10424160" cy="731520"/>
          </a:xfrm>
          <a:prstGeom prst="roundRect">
            <a:avLst/>
          </a:prstGeom>
          <a:solidFill>
            <a:srgbClr val="F7F4F9"/>
          </a:solidFill>
          <a:ln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5C2D91"/>
                </a:solidFill>
                <a:latin typeface="Arial"/>
              </a:rPr>
              <a:t>Próximo passo: continuar evoluindo nossas aplicações Android.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06A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1628</Words>
  <Application>Microsoft Macintosh PowerPoint</Application>
  <PresentationFormat>Widescreen</PresentationFormat>
  <Paragraphs>291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52" baseType="lpstr">
      <vt:lpstr>Arial</vt:lpstr>
      <vt:lpstr>Calibri</vt:lpstr>
      <vt:lpstr>Courier New</vt:lpstr>
      <vt:lpstr>Montserrat</vt:lpstr>
      <vt:lpstr>Montserrat Black</vt:lpstr>
      <vt:lpstr>Montserrat ExtraBold</vt:lpstr>
      <vt:lpstr>Montserrat SemiBold</vt:lpstr>
      <vt:lpstr>Open Sans</vt:lpstr>
      <vt:lpstr>Open Sans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Gustavo da Silva Camara</cp:lastModifiedBy>
  <cp:revision>5</cp:revision>
  <dcterms:created xsi:type="dcterms:W3CDTF">2013-01-27T09:14:16Z</dcterms:created>
  <dcterms:modified xsi:type="dcterms:W3CDTF">2026-08-25T13:52:13Z</dcterms:modified>
  <cp:category/>
</cp:coreProperties>
</file>