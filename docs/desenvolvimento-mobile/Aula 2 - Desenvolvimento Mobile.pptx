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4" r:id="rId24"/>
    <p:sldId id="285" r:id="rId25"/>
    <p:sldId id="286" r:id="rId26"/>
    <p:sldId id="287" r:id="rId27"/>
    <p:sldId id="288" r:id="rId28"/>
    <p:sldId id="278" r:id="rId29"/>
    <p:sldId id="279" r:id="rId30"/>
    <p:sldId id="280" r:id="rId31"/>
    <p:sldId id="282" r:id="rId32"/>
    <p:sldId id="283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65"/>
    <p:restoredTop sz="94589"/>
  </p:normalViewPr>
  <p:slideViewPr>
    <p:cSldViewPr snapToGrid="0" snapToObjects="1">
      <p:cViewPr>
        <p:scale>
          <a:sx n="90" d="100"/>
          <a:sy n="90" d="100"/>
        </p:scale>
        <p:origin x="248" y="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8.png"/><Relationship Id="rId7" Type="http://schemas.openxmlformats.org/officeDocument/2006/relationships/image" Target="../media/image2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5769471"/>
            <a:ext cx="7905750" cy="65990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2971502"/>
            <a:ext cx="1714500" cy="10294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44150" y="333375"/>
            <a:ext cx="1371600" cy="291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sz="2550" b="0" i="0" u="none">
                <a:solidFill>
                  <a:srgbClr val="FFFFFF"/>
                </a:solidFill>
                <a:latin typeface="Montserrat Black"/>
              </a:rPr>
              <a:t>CEUB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4150" y="662880"/>
            <a:ext cx="13716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75" b="1" i="0" u="none">
                <a:solidFill>
                  <a:srgbClr val="FF007F"/>
                </a:solidFill>
                <a:latin typeface="Montserrat"/>
              </a:rPr>
              <a:t>EDUCAÇÃO SUPERIOR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3619946"/>
            <a:ext cx="8301037" cy="1131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sz="4050" b="0" i="0" u="none">
                <a:solidFill>
                  <a:srgbClr val="FFFFFF"/>
                </a:solidFill>
                <a:latin typeface="Montserrat ExtraBold"/>
              </a:rPr>
              <a:t>DESENVOLVIMENTO</a:t>
            </a:r>
            <a:r>
              <a:t>
</a:t>
            </a:r>
            <a:r>
              <a:rPr sz="4050" b="0" i="0" u="none">
                <a:solidFill>
                  <a:srgbClr val="FFFFFF"/>
                </a:solidFill>
                <a:latin typeface="Montserrat ExtraBold"/>
              </a:rPr>
              <a:t>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4894212"/>
            <a:ext cx="7905750" cy="303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sz="1650" b="0" i="0" u="none">
                <a:solidFill>
                  <a:srgbClr val="FF77C2"/>
                </a:solidFill>
                <a:latin typeface="Montserrat SemiBold"/>
              </a:rPr>
              <a:t>Aula 02 — Características, Plataformas e Frameworks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5959971"/>
            <a:ext cx="790575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FFFFFF"/>
                </a:solidFill>
                <a:latin typeface="Open Sans SemiBold"/>
              </a:rPr>
              <a:t>Professor: </a:t>
            </a:r>
            <a:r>
              <a:rPr sz="1275" b="0" i="0" u="none">
                <a:solidFill>
                  <a:srgbClr val="FF77C2"/>
                </a:solidFill>
                <a:latin typeface="Open Sans"/>
              </a:rPr>
              <a:t>Gustavo da Silva Câmara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6194673"/>
            <a:ext cx="7905750" cy="2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 dirty="0" err="1">
                <a:solidFill>
                  <a:srgbClr val="FFFFFF"/>
                </a:solidFill>
                <a:latin typeface="Open Sans SemiBold"/>
              </a:rPr>
              <a:t>Curso</a:t>
            </a:r>
            <a:r>
              <a:rPr sz="1275" b="0" i="0" u="none" dirty="0">
                <a:solidFill>
                  <a:srgbClr val="FFFFFF"/>
                </a:solidFill>
                <a:latin typeface="Open Sans SemiBold"/>
              </a:rPr>
              <a:t>: </a:t>
            </a:r>
            <a:r>
              <a:rPr lang="pt-BR" sz="1275" b="0" i="0" u="none" dirty="0">
                <a:solidFill>
                  <a:srgbClr val="FF77C2"/>
                </a:solidFill>
                <a:latin typeface="Open Sans"/>
              </a:rPr>
              <a:t>Desenvolvimento Mobile</a:t>
            </a:r>
            <a:r>
              <a:rPr sz="1275" b="0" i="0" u="none" dirty="0">
                <a:solidFill>
                  <a:srgbClr val="FF77C2"/>
                </a:solidFill>
                <a:latin typeface="Open Sans"/>
              </a:rPr>
              <a:t>- CEUB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28625"/>
            <a:ext cx="11144250" cy="21618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5" y="2574577"/>
            <a:ext cx="11144250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Ao final desta aula você será capaz de: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3033563"/>
            <a:ext cx="1076325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Entender o que diferencia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aplicações mobile de outros tipos de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3420665"/>
            <a:ext cx="1076325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Conhecer os principais desafios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de desenvolvimento para dispositivos portáteis.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807767"/>
            <a:ext cx="1076325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Comparar Android, iOS e Computadores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em termos de recursos e mobilidade.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194869"/>
            <a:ext cx="1076325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Conhecer Flutter, React Native e MAUI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como soluções multiplataforma.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581971"/>
            <a:ext cx="1076325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Escolher a melhor tecnologia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para a arquitetura de um projeto real.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057376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444478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83158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421868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4605783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Objetivos da Aula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317551"/>
            <a:ext cx="11144250" cy="771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470076"/>
            <a:ext cx="3587799" cy="17561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3470076"/>
            <a:ext cx="3587799" cy="17561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474" y="3470076"/>
            <a:ext cx="3587799" cy="17561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5315" y="2574726"/>
            <a:ext cx="1096137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Montserrat"/>
              </a:rPr>
              <a:t>O que torna um aplicativo realmente "mobile"?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7654" y="4241601"/>
            <a:ext cx="7400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77C2"/>
                </a:solidFill>
                <a:latin typeface="Montserrat"/>
              </a:rPr>
              <a:t>Celular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4565451"/>
            <a:ext cx="3149649" cy="203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0" i="0" u="none" dirty="0" err="1">
                <a:solidFill>
                  <a:srgbClr val="E2D5E6"/>
                </a:solidFill>
                <a:latin typeface="Open Sans"/>
              </a:rPr>
              <a:t>Portabilidade</a:t>
            </a:r>
            <a:r>
              <a:rPr sz="1200" b="0" i="0" u="none" dirty="0">
                <a:solidFill>
                  <a:srgbClr val="E2D5E6"/>
                </a:solidFill>
                <a:latin typeface="Open Sans"/>
              </a:rPr>
              <a:t> extrema e </a:t>
            </a:r>
            <a:r>
              <a:rPr sz="1200" b="0" i="0" u="none" dirty="0" err="1">
                <a:solidFill>
                  <a:srgbClr val="E2D5E6"/>
                </a:solidFill>
                <a:latin typeface="Open Sans"/>
              </a:rPr>
              <a:t>uso</a:t>
            </a:r>
            <a:r>
              <a:rPr sz="1200" b="0" i="0" u="none" dirty="0">
                <a:solidFill>
                  <a:srgbClr val="E2D5E6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E2D5E6"/>
                </a:solidFill>
                <a:latin typeface="Open Sans"/>
              </a:rPr>
              <a:t>dinâmico</a:t>
            </a:r>
            <a:endParaRPr sz="1200" b="0" i="0" u="none" dirty="0">
              <a:solidFill>
                <a:srgbClr val="E2D5E6"/>
              </a:solidFill>
              <a:latin typeface="Open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70959" y="4241601"/>
            <a:ext cx="6500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77C2"/>
                </a:solidFill>
                <a:latin typeface="Montserrat"/>
              </a:rPr>
              <a:t>Tablet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249" y="4565451"/>
            <a:ext cx="3149649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Interatividade touch em telas maiores e consumo multimídia.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4234" y="4241601"/>
            <a:ext cx="104013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77C2"/>
                </a:solidFill>
                <a:latin typeface="Montserrat"/>
              </a:rPr>
              <a:t>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9549" y="4565451"/>
            <a:ext cx="3149649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Computação tradicional focada em produtividade fixa.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400" y="3746301"/>
            <a:ext cx="2286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2650" y="3746301"/>
            <a:ext cx="2667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3799" y="3746301"/>
            <a:ext cx="3810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Pergunta Inicial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4400550"/>
            <a:ext cx="11144250" cy="7715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5315" y="4657725"/>
            <a:ext cx="1096137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Montserrat"/>
              </a:rPr>
              <a:t>O que todos eles possuem em comum?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265" y="2533650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3271" y="2876550"/>
            <a:ext cx="9001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WhatsApp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046" y="2533650"/>
            <a:ext cx="23812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5055" y="2876550"/>
            <a:ext cx="86010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Instagram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540" y="2533650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01865" y="2876550"/>
            <a:ext cx="41005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Uber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084" y="2533650"/>
            <a:ext cx="25717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33635" y="2876550"/>
            <a:ext cx="59007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Spotify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0928" y="3524250"/>
            <a:ext cx="3048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3260" y="3867150"/>
            <a:ext cx="108013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Google Maps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1759" y="3524250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55068" y="3867150"/>
            <a:ext cx="66008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Nubank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7828" y="3524250"/>
            <a:ext cx="238125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76861" y="3867150"/>
            <a:ext cx="46005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iFood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9609" y="3524250"/>
            <a:ext cx="238125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98580" y="3867150"/>
            <a:ext cx="146018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E muitos outros...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Aplicativos do Dia a 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5" y="2151757"/>
            <a:ext cx="11144250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Recursos nativos integrados no ecossistema mobile: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2725042"/>
            <a:ext cx="200025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3521" y="3067942"/>
            <a:ext cx="166020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✔ GPS / Localização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725042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5890" y="3067942"/>
            <a:ext cx="176022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✔ Câmera &amp; Imagem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687" y="2725042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93241" y="3067942"/>
            <a:ext cx="213026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✔ Conectividade Internet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4562" y="3715642"/>
            <a:ext cx="2381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98533" y="4058542"/>
            <a:ext cx="147018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✔ Suporte Offline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0" y="3715642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20903" y="4058542"/>
            <a:ext cx="155019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✔ Sensores Nativo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025" y="3715642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98242" y="4058542"/>
            <a:ext cx="212026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✔ Biometria &amp; Segurança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4562" y="4706242"/>
            <a:ext cx="23812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83518" y="5049142"/>
            <a:ext cx="17002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✔ Notificações Push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275" y="4706242"/>
            <a:ext cx="17145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85936" y="5049142"/>
            <a:ext cx="102012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✔ Bluetooth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8261" y="4915792"/>
            <a:ext cx="182022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✔ NFC (Aproximação)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Construindo o Conceito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694682"/>
            <a:ext cx="5453062" cy="21544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656" y="3047107"/>
            <a:ext cx="5715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594" y="3951982"/>
            <a:ext cx="498562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Montserrat"/>
              </a:rPr>
              <a:t>Dispositivo Inteligente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4275832"/>
            <a:ext cx="474821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Foco na experiência contextual e mobilidade total do usuário.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6062" y="2804070"/>
            <a:ext cx="5072062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Interface Touch: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Gestos e comandos por toque.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6062" y="3191172"/>
            <a:ext cx="5072062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Sensores &amp; GPS: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Acelerômetro, giroscópio e mapas.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6062" y="3578274"/>
            <a:ext cx="5072062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Câmera &amp; Biometria: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Reconhecimento facial e leitura facial.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6062" y="3965376"/>
            <a:ext cx="5072062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Microfone &amp; Áudio: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Comandos por voz contínuos.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6062" y="4352478"/>
            <a:ext cx="5072062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Notificações Push: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Engajamento em tempo real.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827883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321498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3602087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062" y="3989189"/>
            <a:ext cx="14287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5062" y="4376291"/>
            <a:ext cx="17145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O que faz um App ser Mobile?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620863"/>
            <a:ext cx="2678906" cy="106531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656" y="2620863"/>
            <a:ext cx="2678906" cy="106531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437" y="2620863"/>
            <a:ext cx="2678906" cy="10653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218" y="2620863"/>
            <a:ext cx="2678906" cy="10653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829050"/>
            <a:ext cx="2678906" cy="10653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656" y="3829050"/>
            <a:ext cx="2678906" cy="106531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437" y="3829050"/>
            <a:ext cx="2678906" cy="106531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218" y="3829050"/>
            <a:ext cx="2678906" cy="106531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9594" y="2782788"/>
            <a:ext cx="207466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2394" y="3125687"/>
            <a:ext cx="111292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 err="1">
                <a:solidFill>
                  <a:srgbClr val="FFFFFF"/>
                </a:solidFill>
                <a:latin typeface="Montserrat"/>
              </a:rPr>
              <a:t>Bateria</a:t>
            </a:r>
            <a:endParaRPr sz="1200" b="1" i="0" u="none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8405" y="3344763"/>
            <a:ext cx="1149697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 dirty="0" err="1">
                <a:solidFill>
                  <a:srgbClr val="E2D5E6"/>
                </a:solidFill>
                <a:latin typeface="Open Sans"/>
              </a:rPr>
              <a:t>Consumo</a:t>
            </a:r>
            <a:r>
              <a:rPr sz="975" b="0" i="0" u="none" dirty="0">
                <a:solidFill>
                  <a:srgbClr val="E2D5E6"/>
                </a:solidFill>
                <a:latin typeface="Open Sans"/>
              </a:rPr>
              <a:t> de </a:t>
            </a:r>
            <a:r>
              <a:rPr sz="975" b="0" i="0" u="none" dirty="0" err="1">
                <a:solidFill>
                  <a:srgbClr val="E2D5E6"/>
                </a:solidFill>
                <a:latin typeface="Open Sans"/>
              </a:rPr>
              <a:t>energia</a:t>
            </a:r>
            <a:endParaRPr sz="975" b="0" i="0" u="none" dirty="0">
              <a:solidFill>
                <a:srgbClr val="E2D5E6"/>
              </a:solidFill>
              <a:latin typeface="Open Sa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376" y="2782788"/>
            <a:ext cx="207466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2959" y="3125687"/>
            <a:ext cx="108127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 err="1">
                <a:solidFill>
                  <a:srgbClr val="FFFFFF"/>
                </a:solidFill>
                <a:latin typeface="Montserrat"/>
              </a:rPr>
              <a:t>Segurança</a:t>
            </a:r>
            <a:endParaRPr sz="1200" b="1" i="0" u="none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90069" y="3344763"/>
            <a:ext cx="1590079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E2D5E6"/>
                </a:solidFill>
                <a:latin typeface="Open Sans"/>
              </a:rPr>
              <a:t>Proteção de dados sensíveis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3157" y="2782788"/>
            <a:ext cx="207466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69918" y="3125687"/>
            <a:ext cx="96197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Montserrat"/>
              </a:rPr>
              <a:t>Internet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6866" y="3344763"/>
            <a:ext cx="1340048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E2D5E6"/>
                </a:solidFill>
                <a:latin typeface="Open Sans"/>
              </a:rPr>
              <a:t>Redes instáveis e offline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4938" y="2782788"/>
            <a:ext cx="207466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48824" y="3125687"/>
            <a:ext cx="124078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 err="1">
                <a:solidFill>
                  <a:srgbClr val="FFFFFF"/>
                </a:solidFill>
                <a:latin typeface="Montserrat"/>
              </a:rPr>
              <a:t>Permissões</a:t>
            </a:r>
            <a:endParaRPr sz="1200" b="1" i="0" u="none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57742" y="3344763"/>
            <a:ext cx="1541710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E2D5E6"/>
                </a:solidFill>
                <a:latin typeface="Open Sans"/>
              </a:rPr>
              <a:t>Acesso restrito ao hardware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9594" y="3990975"/>
            <a:ext cx="207466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5033" y="4333874"/>
            <a:ext cx="178304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 err="1">
                <a:solidFill>
                  <a:srgbClr val="FFFFFF"/>
                </a:solidFill>
                <a:latin typeface="Montserrat"/>
              </a:rPr>
              <a:t>Telas</a:t>
            </a:r>
            <a:r>
              <a:rPr sz="1200" b="1" i="0" u="none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200" b="1" i="0" u="none" dirty="0" err="1">
                <a:solidFill>
                  <a:srgbClr val="FFFFFF"/>
                </a:solidFill>
                <a:latin typeface="Montserrat"/>
              </a:rPr>
              <a:t>Diferentes</a:t>
            </a:r>
            <a:endParaRPr sz="1200" b="1" i="0" u="none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02394" y="4552950"/>
            <a:ext cx="1121866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E2D5E6"/>
                </a:solidFill>
                <a:latin typeface="Open Sans"/>
              </a:rPr>
              <a:t>Múltiplas resoluções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1376" y="3990975"/>
            <a:ext cx="207466" cy="2667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53111" y="4325838"/>
            <a:ext cx="126399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Montserrat"/>
              </a:rP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83235" y="4552950"/>
            <a:ext cx="1403746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E2D5E6"/>
                </a:solidFill>
                <a:latin typeface="Open Sans"/>
              </a:rPr>
              <a:t>Memória e CPU limitadas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3157" y="3990975"/>
            <a:ext cx="207466" cy="2667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17072" y="4333874"/>
            <a:ext cx="135984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 err="1">
                <a:solidFill>
                  <a:srgbClr val="FFFFFF"/>
                </a:solidFill>
                <a:latin typeface="Montserrat"/>
              </a:rPr>
              <a:t>Atualizações</a:t>
            </a:r>
            <a:endParaRPr sz="1200" b="1" i="0" u="none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69918" y="4552950"/>
            <a:ext cx="1073943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E2D5E6"/>
                </a:solidFill>
                <a:latin typeface="Open Sans"/>
              </a:rPr>
              <a:t>Lojas e aprovações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24938" y="3990975"/>
            <a:ext cx="207466" cy="2667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48824" y="4325838"/>
            <a:ext cx="124078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 err="1">
                <a:solidFill>
                  <a:srgbClr val="FFFFFF"/>
                </a:solidFill>
                <a:latin typeface="Montserrat"/>
              </a:rPr>
              <a:t>Fragmentação</a:t>
            </a:r>
            <a:endParaRPr sz="1200" b="1" i="0" u="none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571434" y="4552950"/>
            <a:ext cx="1514475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E2D5E6"/>
                </a:solidFill>
                <a:latin typeface="Open Sans"/>
              </a:rPr>
              <a:t>Versões de OS e aparelhos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428625"/>
            <a:ext cx="115252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Principais Desafios no Desenvolvimento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875" y="428625"/>
            <a:ext cx="47625" cy="371475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072514" y="6419850"/>
            <a:ext cx="64323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3875" y="2566987"/>
            <a:ext cx="11144250" cy="24098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3875" y="2566987"/>
          <a:ext cx="11134722" cy="240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3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6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965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Característica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Montserrat"/>
                        </a:rPr>
                        <a:t> </a:t>
                      </a:r>
                      <a:r>
                        <a:rPr sz="1200" b="1" i="0" u="none" dirty="0" err="1">
                          <a:solidFill>
                            <a:srgbClr val="FFFFFF"/>
                          </a:solidFill>
                          <a:latin typeface="Montserrat"/>
                        </a:rPr>
                        <a:t>Celular</a:t>
                      </a:r>
                      <a:endParaRPr sz="1200" b="1" i="0" u="none" dirty="0">
                        <a:solidFill>
                          <a:srgbClr val="FFFFFF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 dirty="0">
                          <a:solidFill>
                            <a:srgbClr val="FFFFFF"/>
                          </a:solidFill>
                          <a:latin typeface="Montserrat"/>
                        </a:rPr>
                        <a:t> Tablet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 Computador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Mobilidade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Alta (Portátil)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Média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Baixa / Nula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Interface Touch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Nativa /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Nativa /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Parcial / Rara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Sensores Nativos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Muitos (GPS, Giroscópio...)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Médio / Alto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Poucos / Externa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GPS Dedicado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Sim (Padrão)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Nem sempre (Modelos Cellular)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 dirty="0" err="1">
                          <a:solidFill>
                            <a:srgbClr val="000000"/>
                          </a:solidFill>
                          <a:latin typeface="Open Sans"/>
                        </a:rPr>
                        <a:t>Não</a:t>
                      </a:r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Open Sans"/>
                        </a:rPr>
                        <a:t> (</a:t>
                      </a:r>
                      <a:r>
                        <a:rPr sz="1200" b="0" i="0" u="none" dirty="0" err="1">
                          <a:solidFill>
                            <a:srgbClr val="000000"/>
                          </a:solidFill>
                          <a:latin typeface="Open Sans"/>
                        </a:rPr>
                        <a:t>Geralmente</a:t>
                      </a:r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Open Sans"/>
                        </a:rPr>
                        <a:t> via IP)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28637" y="3019425"/>
            <a:ext cx="21623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690961" y="3019425"/>
            <a:ext cx="29237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14689" y="3019425"/>
            <a:ext cx="33865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01273" y="3019425"/>
            <a:ext cx="26620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8637" y="3505200"/>
            <a:ext cx="21623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90961" y="3505200"/>
            <a:ext cx="29237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14689" y="3505200"/>
            <a:ext cx="33865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01273" y="3505200"/>
            <a:ext cx="26620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8637" y="3990975"/>
            <a:ext cx="21623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0961" y="3990975"/>
            <a:ext cx="29237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14689" y="3990975"/>
            <a:ext cx="33865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01273" y="3990975"/>
            <a:ext cx="26620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8637" y="4476750"/>
            <a:ext cx="21623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90961" y="4476750"/>
            <a:ext cx="29237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14689" y="4476750"/>
            <a:ext cx="338658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1273" y="4476750"/>
            <a:ext cx="26620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263" y="2681287"/>
            <a:ext cx="17145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212" y="2738438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072" y="2719387"/>
            <a:ext cx="17145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Celular × Tablet × Computador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00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5741" y="2082105"/>
            <a:ext cx="414051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Montserrat"/>
              </a:rPr>
              <a:t>Hora do Desafio!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2967930"/>
            <a:ext cx="762000" cy="38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78595" y="3196530"/>
            <a:ext cx="3466214" cy="261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i="0" u="none" dirty="0">
                <a:solidFill>
                  <a:srgbClr val="FFFFFF"/>
                </a:solidFill>
                <a:latin typeface="Open Sans"/>
              </a:rPr>
              <a:t>"</a:t>
            </a:r>
            <a:r>
              <a:rPr sz="1500" b="1" i="0" u="none" dirty="0" err="1">
                <a:solidFill>
                  <a:srgbClr val="FFFFFF"/>
                </a:solidFill>
                <a:latin typeface="Open Sans"/>
              </a:rPr>
              <a:t>Desafio</a:t>
            </a:r>
            <a:r>
              <a:rPr sz="1500" b="1" i="0" u="none" dirty="0">
                <a:solidFill>
                  <a:srgbClr val="FFFFFF"/>
                </a:solidFill>
                <a:latin typeface="Open Sans"/>
              </a:rPr>
              <a:t> Mobile" </a:t>
            </a:r>
            <a:r>
              <a:rPr sz="1500" b="1" i="0" u="none" dirty="0" err="1">
                <a:solidFill>
                  <a:srgbClr val="FFFFFF"/>
                </a:solidFill>
                <a:latin typeface="Open Sans"/>
              </a:rPr>
              <a:t>em</a:t>
            </a:r>
            <a:r>
              <a:rPr sz="1500" b="1" i="0" u="none" dirty="0">
                <a:solidFill>
                  <a:srgbClr val="FFFFFF"/>
                </a:solidFill>
                <a:latin typeface="Open Sans"/>
              </a:rPr>
              <a:t>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0325" y="3615630"/>
            <a:ext cx="6991350" cy="33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0" i="0" u="none">
                <a:solidFill>
                  <a:srgbClr val="FFFFFF"/>
                </a:solidFill>
                <a:latin typeface="Open Sans"/>
              </a:rPr>
              <a:t>Cada grupo receberá um problema real de mercado para analisar.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4442370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10150" y="4375695"/>
            <a:ext cx="2457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Open Sans"/>
              </a:rPr>
              <a:t>Tempo Limite: 20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783383"/>
            <a:ext cx="2076450" cy="197703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2783383"/>
            <a:ext cx="2076450" cy="19770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75" y="2783383"/>
            <a:ext cx="2076450" cy="19770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25" y="2783383"/>
            <a:ext cx="2076450" cy="19770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675" y="2783383"/>
            <a:ext cx="2076450" cy="197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950" y="3554908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1. Academia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3878758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Treinos, frequência e gestão de alunos.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9900" y="3554908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2. Hospital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900" y="3878758"/>
            <a:ext cx="16383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Triagem, agendamento e laudos médicos.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850" y="3554908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3. Universidade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850" y="3878758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Frequência, notas e mapa do campus.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554908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4. Turismo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878758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Guias locais, rotas e bilhetagem.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0" y="3554908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5. Logística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0" y="3878758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Rastreamento de entregas e rotas.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59608"/>
            <a:ext cx="3810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9900" y="3059608"/>
            <a:ext cx="3810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6850" y="3059608"/>
            <a:ext cx="3810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3059608"/>
            <a:ext cx="3810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0" y="3059608"/>
            <a:ext cx="3810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Problema dos Grupos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5" y="2151757"/>
            <a:ext cx="11144250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Quais recursos essenciais o aplicativo do seu cenário precisa?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2725042"/>
            <a:ext cx="2667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516" y="3067942"/>
            <a:ext cx="174021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GPS / Geolocalização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2725042"/>
            <a:ext cx="17145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5892" y="3067942"/>
            <a:ext cx="172021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Bluetooth / Conexão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1687" y="2725042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13294" y="3067942"/>
            <a:ext cx="129016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Internet Online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4562" y="3715642"/>
            <a:ext cx="2381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3503" y="4058542"/>
            <a:ext cx="194024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Funcionamento Offline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0" y="3715642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20903" y="4058542"/>
            <a:ext cx="155019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Câmera / QR Code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025" y="3715642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43323" y="4058542"/>
            <a:ext cx="83010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Biometria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4562" y="4706242"/>
            <a:ext cx="238125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18560" y="5049142"/>
            <a:ext cx="103012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Notificações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5987" y="4706242"/>
            <a:ext cx="2000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55907" y="5049142"/>
            <a:ext cx="148018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Microfone / Áudio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5025" y="4706242"/>
            <a:ext cx="266700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83265" y="5049142"/>
            <a:ext cx="175021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Sensores Específicos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O que o Grupo deverá Responder?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837" y="2690812"/>
            <a:ext cx="1076325" cy="857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3786187"/>
            <a:ext cx="8001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Montserrat"/>
              </a:rPr>
              <a:t>Apresentação dos Grupos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300537"/>
            <a:ext cx="7620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 dirty="0">
                <a:solidFill>
                  <a:srgbClr val="E2D5E6"/>
                </a:solidFill>
                <a:latin typeface="Open Sans"/>
              </a:rPr>
              <a:t>Cada equipe </a:t>
            </a:r>
            <a:r>
              <a:rPr sz="1500" b="0" i="0" u="none" dirty="0" err="1">
                <a:solidFill>
                  <a:srgbClr val="E2D5E6"/>
                </a:solidFill>
                <a:latin typeface="Open Sans"/>
              </a:rPr>
              <a:t>apresentará</a:t>
            </a:r>
            <a:r>
              <a:rPr sz="1500" b="0" i="0" u="none" dirty="0">
                <a:solidFill>
                  <a:srgbClr val="E2D5E6"/>
                </a:solidFill>
                <a:latin typeface="Open Sans"/>
              </a:rPr>
              <a:t> </a:t>
            </a:r>
            <a:r>
              <a:rPr sz="1500" b="0" i="0" u="none" dirty="0" err="1">
                <a:solidFill>
                  <a:srgbClr val="E2D5E6"/>
                </a:solidFill>
                <a:latin typeface="Open Sans"/>
              </a:rPr>
              <a:t>brevemente</a:t>
            </a:r>
            <a:r>
              <a:rPr sz="1500" b="0" i="0" u="none" dirty="0">
                <a:solidFill>
                  <a:srgbClr val="E2D5E6"/>
                </a:solidFill>
                <a:latin typeface="Open Sans"/>
              </a:rPr>
              <a:t> a </a:t>
            </a:r>
            <a:r>
              <a:rPr sz="1500" b="0" i="0" u="none" dirty="0" err="1">
                <a:solidFill>
                  <a:srgbClr val="E2D5E6"/>
                </a:solidFill>
                <a:latin typeface="Open Sans"/>
              </a:rPr>
              <a:t>justificativa</a:t>
            </a:r>
            <a:r>
              <a:rPr sz="1500" b="0" i="0" u="none" dirty="0">
                <a:solidFill>
                  <a:srgbClr val="E2D5E6"/>
                </a:solidFill>
                <a:latin typeface="Open Sans"/>
              </a:rPr>
              <a:t> dos </a:t>
            </a:r>
            <a:r>
              <a:rPr sz="1500" b="0" i="0" u="none" dirty="0" err="1">
                <a:solidFill>
                  <a:srgbClr val="E2D5E6"/>
                </a:solidFill>
                <a:latin typeface="Open Sans"/>
              </a:rPr>
              <a:t>recursos</a:t>
            </a:r>
            <a:r>
              <a:rPr sz="1500" b="0" i="0" u="none" dirty="0">
                <a:solidFill>
                  <a:srgbClr val="E2D5E6"/>
                </a:solidFill>
                <a:latin typeface="Open Sans"/>
              </a:rPr>
              <a:t> </a:t>
            </a:r>
            <a:r>
              <a:rPr sz="1500" b="0" i="0" u="none" dirty="0" err="1">
                <a:solidFill>
                  <a:srgbClr val="E2D5E6"/>
                </a:solidFill>
                <a:latin typeface="Open Sans"/>
              </a:rPr>
              <a:t>escolhidos</a:t>
            </a:r>
            <a:r>
              <a:rPr sz="1500" b="0" i="0" u="none" dirty="0">
                <a:solidFill>
                  <a:srgbClr val="E2D5E6"/>
                </a:solidFill>
                <a:latin typeface="Open Sans"/>
              </a:rPr>
              <a:t> para o </a:t>
            </a:r>
            <a:r>
              <a:rPr sz="1500" b="0" i="0" u="none" dirty="0" err="1">
                <a:solidFill>
                  <a:srgbClr val="E2D5E6"/>
                </a:solidFill>
                <a:latin typeface="Open Sans"/>
              </a:rPr>
              <a:t>seu</a:t>
            </a:r>
            <a:r>
              <a:rPr sz="1500" b="0" i="0" u="none" dirty="0">
                <a:solidFill>
                  <a:srgbClr val="E2D5E6"/>
                </a:solidFill>
                <a:latin typeface="Open Sans"/>
              </a:rPr>
              <a:t> </a:t>
            </a:r>
            <a:r>
              <a:rPr sz="1500" b="0" i="0" u="none" dirty="0" err="1">
                <a:solidFill>
                  <a:srgbClr val="E2D5E6"/>
                </a:solidFill>
                <a:latin typeface="Open Sans"/>
              </a:rPr>
              <a:t>problema</a:t>
            </a:r>
            <a:r>
              <a:rPr sz="1500" b="0" i="0" u="none" dirty="0">
                <a:solidFill>
                  <a:srgbClr val="E2D5E6"/>
                </a:solidFill>
                <a:latin typeface="Open Sans"/>
              </a:rPr>
              <a:t> de mercado.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Compartilhando Soluções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00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643312"/>
            <a:ext cx="2076450" cy="1295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3643312"/>
            <a:ext cx="2076450" cy="129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775" y="3643312"/>
            <a:ext cx="2076450" cy="129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725" y="3643312"/>
            <a:ext cx="2076450" cy="1295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675" y="3643312"/>
            <a:ext cx="2076450" cy="1295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00575" y="1919287"/>
            <a:ext cx="6790848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Montserrat"/>
              </a:rPr>
              <a:t>Plataformas &amp; Frameworks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2805112"/>
            <a:ext cx="762000" cy="38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9362" y="3033712"/>
            <a:ext cx="71532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FFFFFF"/>
                </a:solidFill>
                <a:latin typeface="Open Sans"/>
              </a:rPr>
              <a:t>Visão geral do ecossistema de desenvolvimento mobile nativo e multiplataforma.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4405312"/>
            <a:ext cx="174021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375" y="4405312"/>
            <a:ext cx="174021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7325" y="4405312"/>
            <a:ext cx="174021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Flutter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275" y="4405312"/>
            <a:ext cx="174021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React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1225" y="4405312"/>
            <a:ext cx="174021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.NET MAUI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910012"/>
            <a:ext cx="3429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75" y="3910012"/>
            <a:ext cx="2286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910012"/>
            <a:ext cx="3429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275" y="3910012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1225" y="3910012"/>
            <a:ext cx="2667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659558"/>
            <a:ext cx="5453062" cy="219610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2" y="2659558"/>
            <a:ext cx="5453062" cy="2196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478708"/>
            <a:ext cx="5205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Desenvolvimento Nativo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793033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Criador: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090094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Linguagens: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Kotlin (Padrão) e Java.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387155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IDE: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Android Studio.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12" y="2907208"/>
            <a:ext cx="2355353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2712" y="3221533"/>
            <a:ext cx="5205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Vantagens &amp;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712" y="3535858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Ecossistema aberto com imensa base de dispositivos ativos.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2712" y="3832919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Acesso total e imediato às APIs mais recentes do sistema.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712" y="4129980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Altíssima performance e personalização de componentes.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07208"/>
            <a:ext cx="333523" cy="428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47923" y="3021508"/>
            <a:ext cx="706338" cy="200025"/>
          </a:xfrm>
          <a:prstGeom prst="rect">
            <a:avLst/>
          </a:prstGeom>
          <a:solidFill>
            <a:srgbClr val="FF00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Montserrat"/>
              </a:rPr>
              <a:t>NATIVO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28625"/>
            <a:ext cx="115252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Plataforma Android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875" y="428625"/>
            <a:ext cx="47625" cy="371475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072514" y="6419850"/>
            <a:ext cx="643235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669083"/>
            <a:ext cx="5453062" cy="220563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2" y="2669083"/>
            <a:ext cx="5453062" cy="2205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488233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Desenvolvimento Nativo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812083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Criador: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Apple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109144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Linguagens: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Swift (Moderna) e Objective-C.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406205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IDE: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Xcode (Restrito ao ecossistema macOS).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12" y="2926258"/>
            <a:ext cx="24288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2712" y="3250108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Vantagens &amp;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712" y="3573958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Ecossistema fechado com alto padrão de hardware e segurança.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2712" y="3871019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Fragmentação mínima de dispositivos e telas.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712" y="4168080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Base de usuários com elevado poder de rentabilização.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16733"/>
            <a:ext cx="323850" cy="428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8250" y="3026271"/>
            <a:ext cx="762000" cy="209550"/>
          </a:xfrm>
          <a:prstGeom prst="rect">
            <a:avLst/>
          </a:prstGeom>
          <a:solidFill>
            <a:srgbClr val="FF00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Montserrat"/>
              </a:rPr>
              <a:t>NATIVO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Plataforma 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692896"/>
            <a:ext cx="5453062" cy="215800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2" y="2692896"/>
            <a:ext cx="5453062" cy="21580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464421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788271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Criador: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085332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Linguagem: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Dart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382392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Renderização: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Engine própria (Skia/Impeller).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12" y="2950071"/>
            <a:ext cx="18573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2712" y="3273921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Recursos 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712" y="3597771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</a:t>
            </a:r>
            <a:r>
              <a:rPr sz="1200" b="1" i="0" u="none">
                <a:solidFill>
                  <a:srgbClr val="E2D5E6"/>
                </a:solidFill>
                <a:latin typeface="Open Sans"/>
              </a:rPr>
              <a:t>Hot Reload: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Alterações no código refletidas instantaneamente.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2712" y="3894832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</a:t>
            </a:r>
            <a:r>
              <a:rPr sz="1200" b="1" i="0" u="none">
                <a:solidFill>
                  <a:srgbClr val="E2D5E6"/>
                </a:solidFill>
                <a:latin typeface="Open Sans"/>
              </a:rPr>
              <a:t>Código Único: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Publicação simultânea para Android e 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712" y="4191892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Interfaces ricas compostas 100% por Widgets.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40546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400" y="3026271"/>
            <a:ext cx="1647825" cy="209550"/>
          </a:xfrm>
          <a:prstGeom prst="rect">
            <a:avLst/>
          </a:prstGeom>
          <a:solidFill>
            <a:srgbClr val="FF00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Montserrat"/>
              </a:rPr>
              <a:t>MULTIPLATAFORMA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Framework Flutter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669083"/>
            <a:ext cx="5453062" cy="220563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2" y="2669083"/>
            <a:ext cx="5453062" cy="2205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488233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812083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Criador: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Meta (Facebook)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109144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Linguagem: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JavaScript /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406205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Arquitetura: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Pontes nativas e componentes nativos.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12" y="2926258"/>
            <a:ext cx="18573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2712" y="3250108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Recursos 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712" y="3573958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Aproveitamento do conhecimento web (React).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2712" y="3871019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</a:t>
            </a:r>
            <a:r>
              <a:rPr sz="1200" b="1" i="0" u="none">
                <a:solidFill>
                  <a:srgbClr val="E2D5E6"/>
                </a:solidFill>
                <a:latin typeface="Open Sans"/>
              </a:rPr>
              <a:t>Grande Comunidade: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Vasto ecossistema de bibliotecas terceiras.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712" y="4168080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Utilizado por gigantes como Instagram e Shopify.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16733"/>
            <a:ext cx="428625" cy="428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43025" y="3026271"/>
            <a:ext cx="1647825" cy="209550"/>
          </a:xfrm>
          <a:prstGeom prst="rect">
            <a:avLst/>
          </a:prstGeom>
          <a:solidFill>
            <a:srgbClr val="FF00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Montserrat"/>
              </a:rPr>
              <a:t>MULTIPLATAFORMA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Framework React Native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692896"/>
            <a:ext cx="5453062" cy="215800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2" y="2692896"/>
            <a:ext cx="5453062" cy="21580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464421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788271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Criador: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085332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Linguagem: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C# / XAML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382392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E2D5E6"/>
                </a:solidFill>
                <a:latin typeface="Open Sans"/>
              </a:rPr>
              <a:t>Evolução:</a:t>
            </a:r>
            <a:r>
              <a:rPr sz="1200" b="0" i="0" u="none">
                <a:solidFill>
                  <a:srgbClr val="E2D5E6"/>
                </a:solidFill>
                <a:latin typeface="Open Sans"/>
              </a:rPr>
              <a:t> Substituto oficial do Xamarin.Forms.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12" y="2950071"/>
            <a:ext cx="18573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2712" y="3273921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Recursos Chave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712" y="3597771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Integração total com o ecossistema .NET e Visual Studio.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2712" y="3894832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Alvo único para Mobile (Android/iOS) e Desktop (Windows/macOS).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712" y="4191892"/>
            <a:ext cx="4957762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• Forte adoção no ambiente corporativo e empresarial.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940546"/>
            <a:ext cx="333375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47775" y="3026271"/>
            <a:ext cx="1647825" cy="209550"/>
          </a:xfrm>
          <a:prstGeom prst="rect">
            <a:avLst/>
          </a:prstGeom>
          <a:solidFill>
            <a:srgbClr val="FF00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Montserrat"/>
              </a:rPr>
              <a:t>MULTIPLATAFORMA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Framework .NET MAUI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3875" y="2324100"/>
            <a:ext cx="11144250" cy="28956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3875" y="2324100"/>
          <a:ext cx="11134723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8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Tecnologia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Criador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Linguagem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FFFFFF"/>
                          </a:solidFill>
                          <a:latin typeface="Montserrat"/>
                        </a:rPr>
                        <a:t>Multiplataforma?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Android Nativo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Google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Kotlin / 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Não (Apenas Android)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iOS Nativo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Apple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Swift / Obj-C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Não (Apenas iOS)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Flutter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Google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Dart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Sim (Android + iOS)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React Native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Meta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JavaScript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Sim (Android + iOS)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.NET MAUI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Microsoft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C#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Sim (Android + iOS + Desktop)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28637" y="2776537"/>
            <a:ext cx="26071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35808" y="2776537"/>
            <a:ext cx="1796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32759" y="2776537"/>
            <a:ext cx="21819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14728" y="2776537"/>
            <a:ext cx="454863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8637" y="3262312"/>
            <a:ext cx="26071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35808" y="3262312"/>
            <a:ext cx="1796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32759" y="3262312"/>
            <a:ext cx="21819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14728" y="3262312"/>
            <a:ext cx="454863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8637" y="3748087"/>
            <a:ext cx="26071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35808" y="3748087"/>
            <a:ext cx="1796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32759" y="3748087"/>
            <a:ext cx="21819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14728" y="3748087"/>
            <a:ext cx="454863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8637" y="4233862"/>
            <a:ext cx="26071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35808" y="4233862"/>
            <a:ext cx="1796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32759" y="4233862"/>
            <a:ext cx="21819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14728" y="4233862"/>
            <a:ext cx="454863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8637" y="4719637"/>
            <a:ext cx="26071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35808" y="4719637"/>
            <a:ext cx="1796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32759" y="4719637"/>
            <a:ext cx="21819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14728" y="4719637"/>
            <a:ext cx="454863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302" y="3924300"/>
            <a:ext cx="1333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302" y="4895850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264" y="3438525"/>
            <a:ext cx="1143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814" y="2952750"/>
            <a:ext cx="1143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302" y="4410075"/>
            <a:ext cx="1333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814" y="2952750"/>
            <a:ext cx="1143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264" y="3438525"/>
            <a:ext cx="11430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302" y="3924300"/>
            <a:ext cx="13335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302" y="4410075"/>
            <a:ext cx="1333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302" y="4895850"/>
            <a:ext cx="13335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Comparando as Tecnologias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00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25691" y="2023616"/>
            <a:ext cx="4940617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Montserrat"/>
              </a:rPr>
              <a:t>Oficina de Pesquisa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2909441"/>
            <a:ext cx="762000" cy="38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86312" y="3138041"/>
            <a:ext cx="2619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i="0" u="none">
                <a:solidFill>
                  <a:srgbClr val="FFFFFF"/>
                </a:solidFill>
                <a:latin typeface="Open Sans"/>
              </a:rPr>
              <a:t>Atividade Prática em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0940" y="3557141"/>
            <a:ext cx="7857459" cy="261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 dirty="0">
                <a:solidFill>
                  <a:srgbClr val="FFFFFF"/>
                </a:solidFill>
                <a:latin typeface="Open Sans"/>
              </a:rPr>
              <a:t>Cada </a:t>
            </a:r>
            <a:r>
              <a:rPr sz="1500" b="0" i="0" u="none" dirty="0" err="1">
                <a:solidFill>
                  <a:srgbClr val="FFFFFF"/>
                </a:solidFill>
                <a:latin typeface="Open Sans"/>
              </a:rPr>
              <a:t>grupo</a:t>
            </a:r>
            <a:r>
              <a:rPr sz="1500" b="0" i="0" u="none" dirty="0">
                <a:solidFill>
                  <a:srgbClr val="FFFFFF"/>
                </a:solidFill>
                <a:latin typeface="Open Sans"/>
              </a:rPr>
              <a:t> </a:t>
            </a:r>
            <a:r>
              <a:rPr sz="1500" b="0" i="0" u="none" dirty="0" err="1">
                <a:solidFill>
                  <a:srgbClr val="FFFFFF"/>
                </a:solidFill>
                <a:latin typeface="Open Sans"/>
              </a:rPr>
              <a:t>pesquisará</a:t>
            </a:r>
            <a:r>
              <a:rPr sz="1500" b="0" i="0" u="none" dirty="0">
                <a:solidFill>
                  <a:srgbClr val="FFFFFF"/>
                </a:solidFill>
                <a:latin typeface="Open Sans"/>
              </a:rPr>
              <a:t> </a:t>
            </a:r>
            <a:r>
              <a:rPr sz="1500" b="0" i="0" u="none" dirty="0" err="1">
                <a:solidFill>
                  <a:srgbClr val="FFFFFF"/>
                </a:solidFill>
                <a:latin typeface="Open Sans"/>
              </a:rPr>
              <a:t>profundamente</a:t>
            </a:r>
            <a:r>
              <a:rPr sz="1500" b="0" i="0" u="none" dirty="0">
                <a:solidFill>
                  <a:srgbClr val="FFFFFF"/>
                </a:solidFill>
                <a:latin typeface="Open Sans"/>
              </a:rPr>
              <a:t> </a:t>
            </a:r>
            <a:r>
              <a:rPr sz="1500" b="0" i="0" u="none" dirty="0" err="1">
                <a:solidFill>
                  <a:srgbClr val="FFFFFF"/>
                </a:solidFill>
                <a:latin typeface="Open Sans"/>
              </a:rPr>
              <a:t>uma</a:t>
            </a:r>
            <a:r>
              <a:rPr sz="1500" b="0" i="0" u="none" dirty="0">
                <a:solidFill>
                  <a:srgbClr val="FFFFFF"/>
                </a:solidFill>
                <a:latin typeface="Open Sans"/>
              </a:rPr>
              <a:t> das </a:t>
            </a:r>
            <a:r>
              <a:rPr sz="1500" b="0" i="0" u="none" dirty="0" err="1">
                <a:solidFill>
                  <a:srgbClr val="FFFFFF"/>
                </a:solidFill>
                <a:latin typeface="Open Sans"/>
              </a:rPr>
              <a:t>tecnologias</a:t>
            </a:r>
            <a:r>
              <a:rPr sz="1500" b="0" i="0" u="none" dirty="0">
                <a:solidFill>
                  <a:srgbClr val="FFFFFF"/>
                </a:solidFill>
                <a:latin typeface="Open Sans"/>
              </a:rPr>
              <a:t> </a:t>
            </a:r>
            <a:r>
              <a:rPr sz="1500" b="0" i="0" u="none" dirty="0" err="1">
                <a:solidFill>
                  <a:srgbClr val="FFFFFF"/>
                </a:solidFill>
                <a:latin typeface="Open Sans"/>
              </a:rPr>
              <a:t>apresentadas</a:t>
            </a:r>
            <a:r>
              <a:rPr sz="1500" b="0" i="0" u="none" dirty="0">
                <a:solidFill>
                  <a:srgbClr val="FFFFFF"/>
                </a:solidFill>
                <a:latin typeface="Open Sans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287" y="4539108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53037" y="4510533"/>
            <a:ext cx="19716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Open Sans"/>
              </a:rPr>
              <a:t>Tempo </a:t>
            </a:r>
            <a:r>
              <a:rPr sz="1200" b="1" i="0" u="none" dirty="0" err="1">
                <a:solidFill>
                  <a:srgbClr val="FFFFFF"/>
                </a:solidFill>
                <a:latin typeface="Open Sans"/>
              </a:rPr>
              <a:t>Limite</a:t>
            </a:r>
            <a:r>
              <a:rPr sz="1200" b="1" i="0" u="none" dirty="0">
                <a:solidFill>
                  <a:srgbClr val="FFFFFF"/>
                </a:solidFill>
                <a:latin typeface="Open Sans"/>
              </a:rPr>
              <a:t>: </a:t>
            </a:r>
            <a:r>
              <a:rPr lang="pt-BR" sz="1200" b="1" dirty="0">
                <a:solidFill>
                  <a:srgbClr val="FFFFFF"/>
                </a:solidFill>
                <a:latin typeface="Open Sans"/>
              </a:rPr>
              <a:t>10 </a:t>
            </a:r>
            <a:r>
              <a:rPr sz="1200" b="1" i="0" u="none" dirty="0" err="1">
                <a:solidFill>
                  <a:srgbClr val="FFFFFF"/>
                </a:solidFill>
                <a:latin typeface="Open Sans"/>
              </a:rPr>
              <a:t>Minutos</a:t>
            </a:r>
            <a:endParaRPr sz="1200" b="1" i="0" u="none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5" y="2728912"/>
            <a:ext cx="857250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5468" y="3729037"/>
            <a:ext cx="85010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Montserrat"/>
              </a:rPr>
              <a:t>Vocês são Arquitetos de Software!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4243387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E2D5E6"/>
                </a:solidFill>
                <a:latin typeface="Open Sans"/>
              </a:rPr>
              <a:t>Nesta dinâmica, a equipe assume a responsabilidade de avaliar os cenários e selecionar a </a:t>
            </a:r>
            <a:r>
              <a:rPr sz="1500" b="1" i="0" u="none">
                <a:solidFill>
                  <a:srgbClr val="E2D5E6"/>
                </a:solidFill>
                <a:latin typeface="Open Sans"/>
              </a:rPr>
              <a:t>tecnologia ideal</a:t>
            </a:r>
            <a:r>
              <a:rPr sz="1500" b="0" i="0" u="none">
                <a:solidFill>
                  <a:srgbClr val="E2D5E6"/>
                </a:solidFill>
                <a:latin typeface="Open Sans"/>
              </a:rPr>
              <a:t> para a tomada de decisão do projeto.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Comitê de Arquitetura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93814"/>
            <a:ext cx="2076450" cy="17561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5" y="2893814"/>
            <a:ext cx="2076450" cy="17561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75" y="2893814"/>
            <a:ext cx="2076450" cy="17561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25" y="2893814"/>
            <a:ext cx="2076450" cy="17561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675" y="2893814"/>
            <a:ext cx="2076450" cy="1756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950" y="3665339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1.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3989189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Segurança extrema e integração legada.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9900" y="3665339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2. Startup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900" y="3989189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MVP rápido e baixo orçamento.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850" y="3665339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3. Prefeitura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850" y="3989189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Acessibilidade total da população.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665339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4. Logística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989189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Leitura de código e mapas offline.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0" y="3665339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5. Empresa .NET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0" y="3989189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Equipe já especializada em C#.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170039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9900" y="3170039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6850" y="3170039"/>
            <a:ext cx="3810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3170039"/>
            <a:ext cx="3810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0" y="3170039"/>
            <a:ext cx="2667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Estudos de Caso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3AA44-169F-2516-AA91-0B498C0F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761BACF-091E-8A17-33A7-11E0C1A8F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675" y="524002"/>
            <a:ext cx="2076450" cy="17561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32E646-954F-B63B-B4BC-463231008FF5}"/>
              </a:ext>
            </a:extLst>
          </p:cNvPr>
          <p:cNvSpPr txBox="1"/>
          <p:nvPr/>
        </p:nvSpPr>
        <p:spPr>
          <a:xfrm>
            <a:off x="9810750" y="1295527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1. Banco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EB0E6-7103-0F79-801F-44FE0004D852}"/>
              </a:ext>
            </a:extLst>
          </p:cNvPr>
          <p:cNvSpPr txBox="1"/>
          <p:nvPr/>
        </p:nvSpPr>
        <p:spPr>
          <a:xfrm>
            <a:off x="9810750" y="1619377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Segurança extrema e integração legada.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1E5ABF5E-499A-2554-64AA-D768A7F40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0" y="800227"/>
            <a:ext cx="304800" cy="304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0F43CBE-4DF8-46F8-3CA0-F271BB47DDC2}"/>
              </a:ext>
            </a:extLst>
          </p:cNvPr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Estudos de Caso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27ED9A-70FC-FE3E-49FF-08C633894C6B}"/>
              </a:ext>
            </a:extLst>
          </p:cNvPr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876518-0A7C-69C2-A923-071296AA3EB7}"/>
              </a:ext>
            </a:extLst>
          </p:cNvPr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1EE5F14-2353-6723-A909-AF0D2BA3926F}"/>
              </a:ext>
            </a:extLst>
          </p:cNvPr>
          <p:cNvSpPr txBox="1"/>
          <p:nvPr/>
        </p:nvSpPr>
        <p:spPr>
          <a:xfrm>
            <a:off x="523875" y="2518117"/>
            <a:ext cx="104632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chemeClr val="bg1"/>
                </a:solidFill>
              </a:rPr>
              <a:t>Caso 1 – Banco Digital</a:t>
            </a:r>
          </a:p>
          <a:p>
            <a:pPr>
              <a:buNone/>
            </a:pPr>
            <a:r>
              <a:rPr lang="pt-BR" b="1" dirty="0">
                <a:solidFill>
                  <a:schemeClr val="bg1"/>
                </a:solidFill>
              </a:rPr>
              <a:t>Cliente:</a:t>
            </a:r>
            <a:r>
              <a:rPr lang="pt-BR" dirty="0">
                <a:solidFill>
                  <a:schemeClr val="bg1"/>
                </a:solidFill>
              </a:rPr>
              <a:t> Banco Digital </a:t>
            </a:r>
            <a:r>
              <a:rPr lang="pt-BR" dirty="0" err="1">
                <a:solidFill>
                  <a:schemeClr val="bg1"/>
                </a:solidFill>
              </a:rPr>
              <a:t>NovaConta</a:t>
            </a:r>
            <a:endParaRPr lang="pt-BR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 b="1" dirty="0">
                <a:solidFill>
                  <a:schemeClr val="bg1"/>
                </a:solidFill>
              </a:rPr>
              <a:t>Necessidade: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O banco deseja desenvolver um aplicativo para Android e iOS.</a:t>
            </a:r>
          </a:p>
          <a:p>
            <a:pPr>
              <a:buNone/>
            </a:pPr>
            <a:r>
              <a:rPr lang="pt-BR" b="1" dirty="0">
                <a:solidFill>
                  <a:schemeClr val="bg1"/>
                </a:solidFill>
              </a:rPr>
              <a:t>Requisitos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Login por biometria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Pix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Consulta de saldo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Transferências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Alto nível de segurança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Grande quantidade de usuários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Atualizações frequentes</a:t>
            </a:r>
          </a:p>
        </p:txBody>
      </p:sp>
    </p:spTree>
    <p:extLst>
      <p:ext uri="{BB962C8B-B14F-4D97-AF65-F5344CB8AC3E}">
        <p14:creationId xmlns:p14="http://schemas.microsoft.com/office/powerpoint/2010/main" val="480099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259E9-FB01-D2E6-070C-5F8B5BC9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482E64E-7A3E-99BB-93EC-BDC53DBAC3DB}"/>
              </a:ext>
            </a:extLst>
          </p:cNvPr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Estudos de Caso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E348F6-7597-673D-49CD-0AC383066A52}"/>
              </a:ext>
            </a:extLst>
          </p:cNvPr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2D34DE-7F42-4A18-72EF-E4F09E6CAD2C}"/>
              </a:ext>
            </a:extLst>
          </p:cNvPr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E6FDD7D-A57E-BC14-F70B-62871164CD3A}"/>
              </a:ext>
            </a:extLst>
          </p:cNvPr>
          <p:cNvSpPr txBox="1"/>
          <p:nvPr/>
        </p:nvSpPr>
        <p:spPr>
          <a:xfrm>
            <a:off x="523875" y="2518117"/>
            <a:ext cx="104632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Caso 2 – Startup</a:t>
            </a:r>
          </a:p>
          <a:p>
            <a:r>
              <a:rPr lang="pt-BR" b="1" dirty="0">
                <a:solidFill>
                  <a:schemeClr val="bg1"/>
                </a:solidFill>
              </a:rPr>
              <a:t>Cliente:</a:t>
            </a:r>
            <a:r>
              <a:rPr lang="pt-BR" dirty="0">
                <a:solidFill>
                  <a:schemeClr val="bg1"/>
                </a:solidFill>
              </a:rPr>
              <a:t> Startup </a:t>
            </a:r>
            <a:r>
              <a:rPr lang="pt-BR" dirty="0" err="1">
                <a:solidFill>
                  <a:schemeClr val="bg1"/>
                </a:solidFill>
              </a:rPr>
              <a:t>FoodNow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Situação</a:t>
            </a:r>
          </a:p>
          <a:p>
            <a:r>
              <a:rPr lang="pt-BR" dirty="0">
                <a:solidFill>
                  <a:schemeClr val="bg1"/>
                </a:solidFill>
              </a:rPr>
              <a:t>A empresa possui apenas: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dois desenvolvedores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pouco dinheiro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dois meses para lançar o aplicativo </a:t>
            </a:r>
          </a:p>
          <a:p>
            <a:r>
              <a:rPr lang="pt-BR" dirty="0">
                <a:solidFill>
                  <a:schemeClr val="bg1"/>
                </a:solidFill>
              </a:rPr>
              <a:t>O aplicativo será para Android e iPhone.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7D5BDA3-9B4A-C397-74F4-03435AAA3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675" y="524002"/>
            <a:ext cx="2076450" cy="1756171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93B819D8-7893-6FB1-B8A2-775ABE242D24}"/>
              </a:ext>
            </a:extLst>
          </p:cNvPr>
          <p:cNvSpPr txBox="1"/>
          <p:nvPr/>
        </p:nvSpPr>
        <p:spPr>
          <a:xfrm>
            <a:off x="9810750" y="1295527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2. Startup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0443F945-4437-D46F-F02C-35839E2DC04B}"/>
              </a:ext>
            </a:extLst>
          </p:cNvPr>
          <p:cNvSpPr txBox="1"/>
          <p:nvPr/>
        </p:nvSpPr>
        <p:spPr>
          <a:xfrm>
            <a:off x="9810750" y="1619377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MVP rápido e baixo orçamento.</a:t>
            </a:r>
          </a:p>
        </p:txBody>
      </p:sp>
      <p:pic>
        <p:nvPicPr>
          <p:cNvPr id="6" name="Picture 17" descr="image.png">
            <a:extLst>
              <a:ext uri="{FF2B5EF4-FFF2-40B4-BE49-F238E27FC236}">
                <a16:creationId xmlns:a16="http://schemas.microsoft.com/office/drawing/2014/main" id="{CB8B367E-6374-4C91-FD52-4DD6A2654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0" y="800227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75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7102C-E8AA-ECD1-3FFA-41932FD6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34791DBA-8D14-CEC4-404D-3A712DDE3A3E}"/>
              </a:ext>
            </a:extLst>
          </p:cNvPr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Estudos de Caso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203E80-70EB-FAEC-8C47-3A76A30263B3}"/>
              </a:ext>
            </a:extLst>
          </p:cNvPr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43E41-C18B-62D9-AF0C-F74A03BBAD55}"/>
              </a:ext>
            </a:extLst>
          </p:cNvPr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25DCE88-D850-09E0-ECF7-171165C4BBC4}"/>
              </a:ext>
            </a:extLst>
          </p:cNvPr>
          <p:cNvSpPr txBox="1"/>
          <p:nvPr/>
        </p:nvSpPr>
        <p:spPr>
          <a:xfrm>
            <a:off x="523875" y="2518117"/>
            <a:ext cx="104632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Caso 3 – Prefeitura</a:t>
            </a:r>
          </a:p>
          <a:p>
            <a:r>
              <a:rPr lang="pt-BR" b="1" dirty="0">
                <a:solidFill>
                  <a:schemeClr val="bg1"/>
                </a:solidFill>
              </a:rPr>
              <a:t>Cliente:</a:t>
            </a:r>
            <a:r>
              <a:rPr lang="pt-BR" dirty="0">
                <a:solidFill>
                  <a:schemeClr val="bg1"/>
                </a:solidFill>
              </a:rPr>
              <a:t> Prefeitura Municipal</a:t>
            </a:r>
          </a:p>
          <a:p>
            <a:r>
              <a:rPr lang="pt-BR" dirty="0">
                <a:solidFill>
                  <a:schemeClr val="bg1"/>
                </a:solidFill>
              </a:rPr>
              <a:t>Deseja um aplicativo para emissão de documentos.</a:t>
            </a:r>
          </a:p>
          <a:p>
            <a:r>
              <a:rPr lang="pt-BR" b="1" dirty="0">
                <a:solidFill>
                  <a:schemeClr val="bg1"/>
                </a:solidFill>
              </a:rPr>
              <a:t>Requisitos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Pouco orçamento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Funcionar offline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Muitos formulários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Poucas atualizações</a:t>
            </a:r>
          </a:p>
        </p:txBody>
      </p:sp>
      <p:pic>
        <p:nvPicPr>
          <p:cNvPr id="3" name="Picture 3" descr="image.png">
            <a:extLst>
              <a:ext uri="{FF2B5EF4-FFF2-40B4-BE49-F238E27FC236}">
                <a16:creationId xmlns:a16="http://schemas.microsoft.com/office/drawing/2014/main" id="{83C2D3C2-4371-FD2C-E90D-019EB0F1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757" y="550664"/>
            <a:ext cx="2076450" cy="1756171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6923BC4-D6E4-FE4E-9FA2-6657110D223C}"/>
              </a:ext>
            </a:extLst>
          </p:cNvPr>
          <p:cNvSpPr txBox="1"/>
          <p:nvPr/>
        </p:nvSpPr>
        <p:spPr>
          <a:xfrm>
            <a:off x="9667875" y="1200150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3. Prefeitura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E7C18744-8EC9-48DA-B2C8-9A954BB9EB07}"/>
              </a:ext>
            </a:extLst>
          </p:cNvPr>
          <p:cNvSpPr txBox="1"/>
          <p:nvPr/>
        </p:nvSpPr>
        <p:spPr>
          <a:xfrm>
            <a:off x="9667875" y="1524000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Acessibilidade total da população.</a:t>
            </a:r>
          </a:p>
        </p:txBody>
      </p:sp>
      <p:pic>
        <p:nvPicPr>
          <p:cNvPr id="6" name="Picture 18" descr="image.png">
            <a:extLst>
              <a:ext uri="{FF2B5EF4-FFF2-40B4-BE49-F238E27FC236}">
                <a16:creationId xmlns:a16="http://schemas.microsoft.com/office/drawing/2014/main" id="{099D1EA9-2A49-7C30-864F-2CA7A1472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5" y="704850"/>
            <a:ext cx="381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79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8A5D1-BF80-6E59-656E-0CA34C58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35914A25-8D1C-8BCD-8072-5F5E3E9303C1}"/>
              </a:ext>
            </a:extLst>
          </p:cNvPr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Estudos de Caso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D2FF4E-2A47-5E5E-4CAE-21CE10D3F327}"/>
              </a:ext>
            </a:extLst>
          </p:cNvPr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D9CFCC-8FC0-1A31-3F8A-EF9B86DC4751}"/>
              </a:ext>
            </a:extLst>
          </p:cNvPr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05E0291-3ED0-55D5-C600-72CF69EEE47B}"/>
              </a:ext>
            </a:extLst>
          </p:cNvPr>
          <p:cNvSpPr txBox="1"/>
          <p:nvPr/>
        </p:nvSpPr>
        <p:spPr>
          <a:xfrm>
            <a:off x="523875" y="2518117"/>
            <a:ext cx="104632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Caso 4 – Empresa de Logística</a:t>
            </a:r>
          </a:p>
          <a:p>
            <a:r>
              <a:rPr lang="pt-BR" b="1" dirty="0">
                <a:solidFill>
                  <a:schemeClr val="bg1"/>
                </a:solidFill>
              </a:rPr>
              <a:t>Cliente</a:t>
            </a:r>
          </a:p>
          <a:p>
            <a:r>
              <a:rPr lang="pt-BR" dirty="0">
                <a:solidFill>
                  <a:schemeClr val="bg1"/>
                </a:solidFill>
              </a:rPr>
              <a:t>Transportadora Rota Certa</a:t>
            </a:r>
          </a:p>
          <a:p>
            <a:r>
              <a:rPr lang="pt-BR" b="1" dirty="0">
                <a:solidFill>
                  <a:schemeClr val="bg1"/>
                </a:solidFill>
              </a:rPr>
              <a:t>Requisitos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GPS em tempo real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Scanner de QR </a:t>
            </a:r>
            <a:r>
              <a:rPr lang="pt-BR" dirty="0" err="1">
                <a:solidFill>
                  <a:schemeClr val="bg1"/>
                </a:solidFill>
              </a:rPr>
              <a:t>Code</a:t>
            </a:r>
            <a:r>
              <a:rPr lang="pt-BR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Câmera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Mapa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Performance 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Localização constante</a:t>
            </a:r>
          </a:p>
        </p:txBody>
      </p:sp>
      <p:pic>
        <p:nvPicPr>
          <p:cNvPr id="3" name="Picture 4" descr="image.png">
            <a:extLst>
              <a:ext uri="{FF2B5EF4-FFF2-40B4-BE49-F238E27FC236}">
                <a16:creationId xmlns:a16="http://schemas.microsoft.com/office/drawing/2014/main" id="{B623FD17-C069-A06F-5014-32D9D73F8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299" y="524002"/>
            <a:ext cx="2076450" cy="1756171"/>
          </a:xfrm>
          <a:prstGeom prst="rect">
            <a:avLst/>
          </a:prstGeom>
        </p:spPr>
      </p:pic>
      <p:sp>
        <p:nvSpPr>
          <p:cNvPr id="4" name="TextBox 12">
            <a:extLst>
              <a:ext uri="{FF2B5EF4-FFF2-40B4-BE49-F238E27FC236}">
                <a16:creationId xmlns:a16="http://schemas.microsoft.com/office/drawing/2014/main" id="{EDAAECC3-5AED-C826-B5E2-5F4AD251F8F3}"/>
              </a:ext>
            </a:extLst>
          </p:cNvPr>
          <p:cNvSpPr txBox="1"/>
          <p:nvPr/>
        </p:nvSpPr>
        <p:spPr>
          <a:xfrm>
            <a:off x="9858374" y="1295527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4. Logística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524F66FF-0218-16AC-37EE-A47DDFF0796D}"/>
              </a:ext>
            </a:extLst>
          </p:cNvPr>
          <p:cNvSpPr txBox="1"/>
          <p:nvPr/>
        </p:nvSpPr>
        <p:spPr>
          <a:xfrm>
            <a:off x="9858374" y="1619377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Leitura de código e mapas offline.</a:t>
            </a:r>
          </a:p>
        </p:txBody>
      </p:sp>
      <p:pic>
        <p:nvPicPr>
          <p:cNvPr id="6" name="Picture 19" descr="image.png">
            <a:extLst>
              <a:ext uri="{FF2B5EF4-FFF2-40B4-BE49-F238E27FC236}">
                <a16:creationId xmlns:a16="http://schemas.microsoft.com/office/drawing/2014/main" id="{1B9EDA43-D455-9909-F9D4-CBFDA0AAA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4" y="800227"/>
            <a:ext cx="381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71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56376-B1AF-FF11-2CD0-ECA25A4A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0BADBE9-B003-4A4B-42D6-C2EE05894D77}"/>
              </a:ext>
            </a:extLst>
          </p:cNvPr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Estudos de Caso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FF5E93-54DF-5C52-C929-FFC08DCD26B5}"/>
              </a:ext>
            </a:extLst>
          </p:cNvPr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C7413D-4841-0D57-FE05-665E077DCEFC}"/>
              </a:ext>
            </a:extLst>
          </p:cNvPr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69F3397-B2AF-6EA4-09BB-F286D9B05373}"/>
              </a:ext>
            </a:extLst>
          </p:cNvPr>
          <p:cNvSpPr txBox="1"/>
          <p:nvPr/>
        </p:nvSpPr>
        <p:spPr>
          <a:xfrm>
            <a:off x="523875" y="2518117"/>
            <a:ext cx="104632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Caso 5 – Empresa .NET</a:t>
            </a:r>
          </a:p>
          <a:p>
            <a:r>
              <a:rPr lang="pt-BR" b="1" dirty="0">
                <a:solidFill>
                  <a:schemeClr val="bg1"/>
                </a:solidFill>
              </a:rPr>
              <a:t>Cliente</a:t>
            </a:r>
          </a:p>
          <a:p>
            <a:r>
              <a:rPr lang="pt-BR" dirty="0">
                <a:solidFill>
                  <a:schemeClr val="bg1"/>
                </a:solidFill>
              </a:rPr>
              <a:t>Empresa Alfa Sistemas</a:t>
            </a:r>
          </a:p>
          <a:p>
            <a:r>
              <a:rPr lang="pt-BR" dirty="0">
                <a:solidFill>
                  <a:schemeClr val="bg1"/>
                </a:solidFill>
              </a:rPr>
              <a:t>Toda a equipe programa em:</a:t>
            </a:r>
          </a:p>
          <a:p>
            <a:r>
              <a:rPr lang="pt-BR" dirty="0">
                <a:solidFill>
                  <a:schemeClr val="bg1"/>
                </a:solidFill>
              </a:rPr>
              <a:t>C#</a:t>
            </a:r>
          </a:p>
          <a:p>
            <a:r>
              <a:rPr lang="pt-BR" dirty="0">
                <a:solidFill>
                  <a:schemeClr val="bg1"/>
                </a:solidFill>
              </a:rPr>
              <a:t>Nunca desenvolveram aplicativos móveis.</a:t>
            </a:r>
          </a:p>
          <a:p>
            <a:r>
              <a:rPr lang="pt-BR" dirty="0">
                <a:solidFill>
                  <a:schemeClr val="bg1"/>
                </a:solidFill>
              </a:rPr>
              <a:t>Precisam publicar para Android e iPhone.</a:t>
            </a:r>
          </a:p>
        </p:txBody>
      </p:sp>
      <p:pic>
        <p:nvPicPr>
          <p:cNvPr id="3" name="Picture 5" descr="image.png">
            <a:extLst>
              <a:ext uri="{FF2B5EF4-FFF2-40B4-BE49-F238E27FC236}">
                <a16:creationId xmlns:a16="http://schemas.microsoft.com/office/drawing/2014/main" id="{2E7B1180-3947-92BB-38B7-6EC7832B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675" y="524002"/>
            <a:ext cx="2076450" cy="1756171"/>
          </a:xfrm>
          <a:prstGeom prst="rect">
            <a:avLst/>
          </a:prstGeom>
        </p:spPr>
      </p:pic>
      <p:sp>
        <p:nvSpPr>
          <p:cNvPr id="4" name="TextBox 14">
            <a:extLst>
              <a:ext uri="{FF2B5EF4-FFF2-40B4-BE49-F238E27FC236}">
                <a16:creationId xmlns:a16="http://schemas.microsoft.com/office/drawing/2014/main" id="{F64CAD0E-F186-FAF0-976D-A2105CF521C5}"/>
              </a:ext>
            </a:extLst>
          </p:cNvPr>
          <p:cNvSpPr txBox="1"/>
          <p:nvPr/>
        </p:nvSpPr>
        <p:spPr>
          <a:xfrm>
            <a:off x="9810750" y="1295527"/>
            <a:ext cx="1720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5. Empresa .NET</a:t>
            </a: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407CE7B1-72DA-BFC4-983C-A827686F36EC}"/>
              </a:ext>
            </a:extLst>
          </p:cNvPr>
          <p:cNvSpPr txBox="1"/>
          <p:nvPr/>
        </p:nvSpPr>
        <p:spPr>
          <a:xfrm>
            <a:off x="9810750" y="1619377"/>
            <a:ext cx="16383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Equipe já especializada em C#.</a:t>
            </a:r>
          </a:p>
        </p:txBody>
      </p:sp>
      <p:pic>
        <p:nvPicPr>
          <p:cNvPr id="6" name="Picture 20" descr="image.png">
            <a:extLst>
              <a:ext uri="{FF2B5EF4-FFF2-40B4-BE49-F238E27FC236}">
                <a16:creationId xmlns:a16="http://schemas.microsoft.com/office/drawing/2014/main" id="{532D985E-573C-61D9-9772-E2D19170E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0" y="800227"/>
            <a:ext cx="266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0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0750" y="2804070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Qual tecnologia escolher?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(Nativo Android/iOS, Flutter, React Native ou MAUI)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0750" y="3191172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Por quê?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Apresentar a justificativa técnica alinhada ao negócio.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0750" y="3578274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Quais as principais vantagens?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Benefícios diretos para a equipe e o produto.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965376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Quais os riscos envolvidos?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Desafios de manutenção e contratação.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4352478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Qual seria o impacto de custo?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Prazo e custo de desenvolvimento.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827883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214985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360208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0" y="3989189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4376291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O que vocês precisam decidir?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22376"/>
            <a:ext cx="5453062" cy="189904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62" y="2822376"/>
            <a:ext cx="5453062" cy="1899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708201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Defesa da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4032051"/>
            <a:ext cx="4957762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Cada grupo defenderá publicamente a escolha tecnológica adotada para o seu estudo de caso.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712" y="3708201"/>
            <a:ext cx="5205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77C2"/>
                </a:solidFill>
                <a:latin typeface="Montserrat"/>
              </a:rPr>
              <a:t>Sabatinada da 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2712" y="4032051"/>
            <a:ext cx="4957762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E2D5E6"/>
                </a:solidFill>
                <a:latin typeface="Open Sans"/>
              </a:rPr>
              <a:t>Os demais grupos atuarão como avaliadores, fazendo perguntas e apontando possíveis riscos.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146226"/>
            <a:ext cx="361950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712" y="3146226"/>
            <a:ext cx="276225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Debate de Arquitetura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00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5768" y="1947416"/>
            <a:ext cx="3700462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Montserrat"/>
              </a:rPr>
              <a:t>Quiz Interativo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0" y="2833241"/>
            <a:ext cx="762000" cy="3810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00475" y="3061841"/>
            <a:ext cx="4591050" cy="261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i="0" u="none" dirty="0" err="1">
                <a:solidFill>
                  <a:srgbClr val="FFFFFF"/>
                </a:solidFill>
                <a:latin typeface="Open Sans"/>
              </a:rPr>
              <a:t>Testando</a:t>
            </a:r>
            <a:r>
              <a:rPr sz="1500" b="1" i="0" u="none" dirty="0">
                <a:solidFill>
                  <a:srgbClr val="FFFFFF"/>
                </a:solidFill>
                <a:latin typeface="Open Sans"/>
              </a:rPr>
              <a:t> </a:t>
            </a:r>
            <a:r>
              <a:rPr sz="1500" b="1" i="0" u="none" dirty="0" err="1">
                <a:solidFill>
                  <a:srgbClr val="FFFFFF"/>
                </a:solidFill>
                <a:latin typeface="Open Sans"/>
              </a:rPr>
              <a:t>Conhecimentos</a:t>
            </a:r>
            <a:r>
              <a:rPr sz="1500" b="1" i="0" u="none" dirty="0">
                <a:solidFill>
                  <a:srgbClr val="FFFFFF"/>
                </a:solidFill>
                <a:latin typeface="Open Sans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7625" y="3433316"/>
            <a:ext cx="4476750" cy="248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0" i="0" u="none">
                <a:solidFill>
                  <a:srgbClr val="FFFFFF"/>
                </a:solidFill>
                <a:latin typeface="Open Sans"/>
              </a:rPr>
              <a:t>10 Perguntas Rápidas sobre Plataformas e Frameworks.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0371" y="4122653"/>
            <a:ext cx="4699727" cy="179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22"/>
              </a:lnSpc>
            </a:pPr>
            <a:r>
              <a:rPr lang="pt-BR" sz="1050" dirty="0">
                <a:solidFill>
                  <a:srgbClr val="FF77C2"/>
                </a:solidFill>
                <a:latin typeface="Open Sans"/>
              </a:rPr>
              <a:t>https://</a:t>
            </a:r>
            <a:r>
              <a:rPr lang="pt-BR" sz="1050" dirty="0" err="1">
                <a:solidFill>
                  <a:srgbClr val="FF77C2"/>
                </a:solidFill>
                <a:latin typeface="Open Sans"/>
              </a:rPr>
              <a:t>speedquizgu.lovable.app</a:t>
            </a:r>
            <a:r>
              <a:rPr lang="pt-BR" sz="1050" dirty="0">
                <a:solidFill>
                  <a:srgbClr val="FF77C2"/>
                </a:solidFill>
                <a:latin typeface="Open Sans"/>
              </a:rPr>
              <a:t>/painel</a:t>
            </a:r>
            <a:endParaRPr sz="1050" b="0" i="0" u="none" dirty="0">
              <a:solidFill>
                <a:srgbClr val="FF77C2"/>
              </a:solidFill>
              <a:latin typeface="Open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0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0750" y="2804070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Características Mobile: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Hardware, mobilidade e sensores nativos.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0750" y="3191172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Desafios: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Bateria, fragmentação e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0750" y="3578274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Nativo Android &amp; iOS: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Kotlin, Swift e ecossistemas específicos.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965376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Multiplataforma: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Flutter (Dart), React Native (JS) e MAUI (C#).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4352478"/>
            <a:ext cx="819150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1" i="0" u="none">
                <a:solidFill>
                  <a:srgbClr val="E2D5E6"/>
                </a:solidFill>
                <a:latin typeface="Open Sans"/>
              </a:rPr>
              <a:t>Tomada de Decisão:</a:t>
            </a:r>
            <a:r>
              <a:rPr sz="1275" b="0" i="0" u="none">
                <a:solidFill>
                  <a:srgbClr val="E2D5E6"/>
                </a:solidFill>
                <a:latin typeface="Open Sans"/>
              </a:rPr>
              <a:t> Critérios para escolher a arquitetura ideal.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827883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214985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602087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989189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4376291"/>
            <a:ext cx="1714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50" y="428625"/>
            <a:ext cx="1152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FFFFF"/>
                </a:solidFill>
                <a:latin typeface="Montserrat ExtraBold"/>
              </a:rPr>
              <a:t>O que Aprendemos Hoje?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875" y="428625"/>
            <a:ext cx="47625" cy="40005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00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769715"/>
            <a:ext cx="2000250" cy="5066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769715"/>
            <a:ext cx="2000250" cy="5066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1769715"/>
            <a:ext cx="2000250" cy="5066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769715"/>
            <a:ext cx="2000250" cy="5066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1937" y="428625"/>
            <a:ext cx="11668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Montserrat"/>
              </a:rPr>
              <a:t>Próxima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1200150"/>
            <a:ext cx="11144250" cy="33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1" i="0" u="none">
                <a:solidFill>
                  <a:srgbClr val="FFFFFF"/>
                </a:solidFill>
                <a:latin typeface="Open Sans"/>
              </a:rPr>
              <a:t>Ambiente de Desenvolvimento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562076"/>
            <a:ext cx="7620000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1" u="none">
                <a:solidFill>
                  <a:srgbClr val="FF77C2"/>
                </a:solidFill>
                <a:latin typeface="Open Sans"/>
              </a:rPr>
              <a:t>"Preparados para colocar a mão no código?"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3141166"/>
            <a:ext cx="111442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FFFFFF"/>
                </a:solidFill>
                <a:latin typeface="Open Sans SemiBold"/>
              </a:rPr>
              <a:t>Ciência da Computação - CEUB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2625" y="1912590"/>
            <a:ext cx="1714500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FFFFFF"/>
                </a:solidFill>
                <a:latin typeface="Open Sans"/>
              </a:rPr>
              <a:t>Android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3375" y="1912590"/>
            <a:ext cx="1714500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FFFFFF"/>
                </a:solidFill>
                <a:latin typeface="Open Sans"/>
              </a:rPr>
              <a:t>SDK &amp;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1912590"/>
            <a:ext cx="1714500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FFFFFF"/>
                </a:solidFill>
                <a:latin typeface="Open Sans"/>
              </a:rPr>
              <a:t>Emuladores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4875" y="1912590"/>
            <a:ext cx="1714500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FFFFFF"/>
                </a:solidFill>
                <a:latin typeface="Open Sans"/>
              </a:rPr>
              <a:t>1º App Flutter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7087" y="6410325"/>
            <a:ext cx="72866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Montserrat ExtraBold"/>
              </a:rPr>
              <a:t>ceub</a:t>
            </a:r>
            <a:r>
              <a:rPr sz="1350" b="0" i="0" u="none">
                <a:solidFill>
                  <a:srgbClr val="FF007F"/>
                </a:solidFill>
                <a:latin typeface="Montserrat ExtraBold"/>
              </a:rPr>
              <a:t>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3931</TotalTime>
  <Words>1518</Words>
  <Application>Microsoft Macintosh PowerPoint</Application>
  <PresentationFormat>Widescreen</PresentationFormat>
  <Paragraphs>337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1" baseType="lpstr">
      <vt:lpstr>Arial</vt:lpstr>
      <vt:lpstr>Calibri</vt:lpstr>
      <vt:lpstr>Montserrat</vt:lpstr>
      <vt:lpstr>Montserrat Black</vt:lpstr>
      <vt:lpstr>Montserrat ExtraBold</vt:lpstr>
      <vt:lpstr>Montserrat SemiBold</vt:lpstr>
      <vt:lpstr>Open Sans</vt:lpstr>
      <vt:lpstr>Open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Gustavo da Silva Camara</cp:lastModifiedBy>
  <cp:revision>4</cp:revision>
  <dcterms:created xsi:type="dcterms:W3CDTF">2013-01-27T09:14:16Z</dcterms:created>
  <dcterms:modified xsi:type="dcterms:W3CDTF">2026-08-04T13:45:29Z</dcterms:modified>
  <cp:category/>
</cp:coreProperties>
</file>